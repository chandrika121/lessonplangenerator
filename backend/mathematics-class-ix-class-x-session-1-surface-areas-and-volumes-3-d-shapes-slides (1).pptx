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ContentType="application/vnd.openxmlformats-officedocument.presentationml.notesMaster+xml" PartName="/ppt/notesMasters/notesMaster1.xml"/>
  <Override ContentType="application/vnd.openxmlformats-officedocument.theme+xml" PartName="/ppt/notesMasters/theme/theme3.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layfair Display" charset="1" panose="00000000000000000000"/>
      <p:regular r:id="rId18"/>
    </p:embeddedFont>
    <p:embeddedFont>
      <p:font typeface="Playfair Display Bold" charset="1" panose="00000000000000000000"/>
      <p:regular r:id="rId19"/>
    </p:embeddedFont>
    <p:embeddedFont>
      <p:font typeface="Open Sauce"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21" Target="notesMasters/notesMaster1.xml" Type="http://schemas.openxmlformats.org/officeDocument/2006/relationships/notesMaster"/><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s>
</file>

<file path=ppt/notesMasters/_rels/notesMaster1.xml.rels><?xml version="1.0" encoding="UTF-8" standalone="yes"?><Relationships xmlns="http://schemas.openxmlformats.org/package/2006/relationships"><Relationship Id="rId1" Target="/ppt/notesMasters/theme/theme3.xml" Type="http://schemas.openxmlformats.org/officeDocument/2006/relationships/theme"/></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theme3.xml><?xml version="1.0" encoding="utf-8"?>
<a:theme xmlns:a="http://schemas.openxmlformats.org/drawingml/2006/main" name="LessonPlanGenerator Notes">
  <a:themeElements>
    <a:clrScheme name="LessonPlanGenerator Notes">
      <a:dk1>
        <a:srgbClr val="000000"/>
      </a:dk1>
      <a:lt1>
        <a:srgbClr val="FFFFFF"/>
      </a:lt1>
      <a:dk2>
        <a:srgbClr val="173B6A"/>
      </a:dk2>
      <a:lt2>
        <a:srgbClr val="E8E8E8"/>
      </a:lt2>
      <a:accent1>
        <a:srgbClr val="1D4E89"/>
      </a:accent1>
      <a:accent2>
        <a:srgbClr val="D97706"/>
      </a:accent2>
      <a:accent3>
        <a:srgbClr val="36ADAA"/>
      </a:accent3>
      <a:accent4>
        <a:srgbClr val="0F9ED5"/>
      </a:accent4>
      <a:accent5>
        <a:srgbClr val="8B5CF6"/>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fillStyleLst>
      <a:lnStyleLst>
        <a:ln w="12700">
          <a:solidFill>
            <a:schemeClr val="phClr"/>
          </a:solidFill>
          <a:prstDash val="solid"/>
        </a:ln>
      </a:lnStyleLst>
      <a:effectStyleLst>
        <a:effectStyle>
          <a:effectLst/>
        </a:effectStyle>
      </a:effectStyleLst>
      <a:bgFillStyleLst>
        <a:solidFill>
          <a:schemeClr val="phClr"/>
        </a:solidFill>
      </a:bgFillStyleLst>
    </a:fmtScheme>
  </a:themeElements>
</a:theme>
</file>

<file path=ppt/notesSlides/_rels/notesSlide1.xml.rels><?xml version="1.0" encoding="UTF-8" standalone="yes"?><Relationships xmlns="http://schemas.openxmlformats.org/package/2006/relationships"><Relationship Id="rId1" Target="/ppt/slides/slide1.xml" Type="http://schemas.openxmlformats.org/officeDocument/2006/relationships/slide"/><Relationship Id="rId2" Target="/ppt/notesMasters/notesMaster1.xml" Type="http://schemas.openxmlformats.org/officeDocument/2006/relationships/notesMaster"/></Relationships>
</file>

<file path=ppt/notesSlides/_rels/notesSlide2.xml.rels><?xml version="1.0" encoding="UTF-8" standalone="yes"?><Relationships xmlns="http://schemas.openxmlformats.org/package/2006/relationships"><Relationship Id="rId1" Target="/ppt/slides/slide2.xml" Type="http://schemas.openxmlformats.org/officeDocument/2006/relationships/slide"/><Relationship Id="rId2" Target="/ppt/notesMasters/notesMaster1.xml" Type="http://schemas.openxmlformats.org/officeDocument/2006/relationships/notesMaster"/></Relationships>
</file>

<file path=ppt/notesSlides/_rels/notesSlide3.xml.rels><?xml version="1.0" encoding="UTF-8" standalone="yes"?><Relationships xmlns="http://schemas.openxmlformats.org/package/2006/relationships"><Relationship Id="rId1" Target="/ppt/slides/slide3.xml" Type="http://schemas.openxmlformats.org/officeDocument/2006/relationships/slide"/><Relationship Id="rId2" Target="/ppt/notesMasters/notesMaster1.xml" Type="http://schemas.openxmlformats.org/officeDocument/2006/relationships/notesMaster"/></Relationships>
</file>

<file path=ppt/notesSlides/_rels/notesSlide4.xml.rels><?xml version="1.0" encoding="UTF-8" standalone="yes"?><Relationships xmlns="http://schemas.openxmlformats.org/package/2006/relationships"><Relationship Id="rId1" Target="/ppt/slides/slide4.xml" Type="http://schemas.openxmlformats.org/officeDocument/2006/relationships/slide"/><Relationship Id="rId2" Target="/ppt/notesMasters/notesMaster1.xml" Type="http://schemas.openxmlformats.org/officeDocument/2006/relationships/notesMaster"/></Relationships>
</file>

<file path=ppt/notesSlides/_rels/notesSlide5.xml.rels><?xml version="1.0" encoding="UTF-8" standalone="yes"?><Relationships xmlns="http://schemas.openxmlformats.org/package/2006/relationships"><Relationship Id="rId1" Target="/ppt/slides/slide5.xml" Type="http://schemas.openxmlformats.org/officeDocument/2006/relationships/slide"/><Relationship Id="rId2" Target="/ppt/notesMasters/notesMaster1.xml" Type="http://schemas.openxmlformats.org/officeDocument/2006/relationships/notesMaster"/></Relationships>
</file>

<file path=ppt/notesSlides/_rels/notesSlide6.xml.rels><?xml version="1.0" encoding="UTF-8" standalone="yes"?><Relationships xmlns="http://schemas.openxmlformats.org/package/2006/relationships"><Relationship Id="rId1" Target="/ppt/slides/slide6.xml" Type="http://schemas.openxmlformats.org/officeDocument/2006/relationships/slide"/><Relationship Id="rId2" Target="/ppt/notesMasters/notesMaster1.xml" Type="http://schemas.openxmlformats.org/officeDocument/2006/relationships/notesMaster"/></Relationships>
</file>

<file path=ppt/notesSlides/_rels/notesSlide7.xml.rels><?xml version="1.0" encoding="UTF-8" standalone="yes"?><Relationships xmlns="http://schemas.openxmlformats.org/package/2006/relationships"><Relationship Id="rId1" Target="/ppt/slides/slide7.xml" Type="http://schemas.openxmlformats.org/officeDocument/2006/relationships/slide"/><Relationship Id="rId2" Target="/ppt/notesMasters/notesMaster1.xml" Type="http://schemas.openxmlformats.org/officeDocument/2006/relationships/notesMaster"/></Relationships>
</file>

<file path=ppt/notesSlides/_rels/notesSlide8.xml.rels><?xml version="1.0" encoding="UTF-8" standalone="yes"?><Relationships xmlns="http://schemas.openxmlformats.org/package/2006/relationships"><Relationship Id="rId1" Target="/ppt/slides/slide8.xml" Type="http://schemas.openxmlformats.org/officeDocument/2006/relationships/slide"/><Relationship Id="rId2" Target="/ppt/notesMasters/notesMaster1.xml" Type="http://schemas.openxmlformats.org/officeDocument/2006/relationships/notesMaster"/></Relationships>
</file>

<file path=ppt/notesSlides/_rels/notesSlide9.xml.rels><?xml version="1.0" encoding="UTF-8" standalone="yes"?><Relationships xmlns="http://schemas.openxmlformats.org/package/2006/relationships"><Relationship Id="rId1" Target="/ppt/slides/slide9.xml" Type="http://schemas.openxmlformats.org/officeDocument/2006/relationships/slide"/><Relationship Id="rId2" Target="/ppt/notesMasters/notesMaster1.xml" Type="http://schemas.openxmlformats.org/officeDocument/2006/relationships/notesMaster"/></Relationships>
</file>

<file path=ppt/notesSlides/_rels/notesSlide10.xml.rels><?xml version="1.0" encoding="UTF-8" standalone="yes"?><Relationships xmlns="http://schemas.openxmlformats.org/package/2006/relationships"><Relationship Id="rId1" Target="/ppt/slides/slide10.xml" Type="http://schemas.openxmlformats.org/officeDocument/2006/relationships/slide"/><Relationship Id="rId2" Target="/ppt/notesMasters/notesMaster1.xml" Type="http://schemas.openxmlformats.org/officeDocument/2006/relationships/notesMaster"/></Relationships>
</file>

<file path=ppt/notesSlides/_rels/notesSlide11.xml.rels><?xml version="1.0" encoding="UTF-8" standalone="yes"?><Relationships xmlns="http://schemas.openxmlformats.org/package/2006/relationships"><Relationship Id="rId1" Target="/ppt/slides/slide11.xml" Type="http://schemas.openxmlformats.org/officeDocument/2006/relationships/slide"/><Relationship Id="rId2" Target="/ppt/notesMasters/notesMaster1.xml" Type="http://schemas.openxmlformats.org/officeDocument/2006/relationships/notesMaster"/></Relationships>
</file>

<file path=ppt/notesSlides/_rels/notesSlide12.xml.rels><?xml version="1.0" encoding="UTF-8" standalone="yes"?><Relationships xmlns="http://schemas.openxmlformats.org/package/2006/relationships"><Relationship Id="rId1" Target="/ppt/slides/slide12.xml" Type="http://schemas.openxmlformats.org/officeDocument/2006/relationships/slide"/><Relationship Id="rId2" Target="/ppt/notesMasters/notesMaster1.xml" Type="http://schemas.openxmlformats.org/officeDocument/2006/relationships/notesMaster"/></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Introduce the session and set the learning purpose.</a:t>
            </a:r>
          </a:p>
          <a:p>
            <a:pPr lvl="0"/>
            <a:r>
              <a:rPr lang="en-US" sz="1200">
                <a:latin typeface="Calibri"/>
                <a:ea typeface="Calibri"/>
                <a:cs typeface="Calibri"/>
              </a:rPr>
              <a:t>Purpose: Open the lesson, set expectations, and establish relevance.</a:t>
            </a:r>
          </a:p>
          <a:p>
            <a:pPr lvl="0"/>
            <a:r>
              <a:rPr lang="en-US" sz="1200">
                <a:latin typeface="Calibri"/>
                <a:ea typeface="Calibri"/>
                <a:cs typeface="Calibri"/>
              </a:rPr>
              <a:t>Explain: This session introduces the chapter 'Surface Areas and Volumes' for Class IX/X. It focuses on defining total surface area (TSA) and lateral/curved surface area (LSA/CSA) specifically for cubes and cuboids usi...</a:t>
            </a:r>
          </a:p>
          <a:p>
            <a:pPr lvl="0"/>
            <a:r>
              <a:rPr lang="en-US" sz="1200">
                <a:latin typeface="Calibri"/>
                <a:ea typeface="Calibri"/>
                <a:cs typeface="Calibri"/>
              </a:rPr>
              <a:t>Explain: To bridge the gap between 2D area concepts and 3D surface measurements.</a:t>
            </a:r>
          </a:p>
          <a:p>
            <a:pPr lvl="0"/>
            <a:r>
              <a:rPr lang="en-US" sz="1200">
                <a:latin typeface="Calibri"/>
                <a:ea typeface="Calibri"/>
                <a:cs typeface="Calibri"/>
              </a:rPr>
              <a:t>Explain: To provide a foundational understanding required for complex shapes (Cylinder, Cone) in future sessions.</a:t>
            </a:r>
          </a:p>
          <a:p>
            <a:pPr lvl="0"/>
            <a:r>
              <a:rPr lang="en-US" sz="1200">
                <a:latin typeface="Calibri"/>
                <a:ea typeface="Calibri"/>
                <a:cs typeface="Calibri"/>
              </a:rPr>
              <a:t>Ask: If a cube has an edge of 10 cm, what is its Total Surface Area?</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Share the learning outcomes clearly.</a:t>
            </a:r>
          </a:p>
          <a:p>
            <a:pPr lvl="0"/>
            <a:r>
              <a:rPr lang="en-US" sz="1200">
                <a:latin typeface="Calibri"/>
                <a:ea typeface="Calibri"/>
                <a:cs typeface="Calibri"/>
              </a:rPr>
              <a:t>Purpose: Translate each outcome into a student-friendly classroom target.</a:t>
            </a:r>
          </a:p>
          <a:p>
            <a:pPr lvl="0"/>
            <a:r>
              <a:rPr lang="en-US" sz="1200">
                <a:latin typeface="Calibri"/>
                <a:ea typeface="Calibri"/>
                <a:cs typeface="Calibri"/>
              </a:rPr>
              <a:t>Explain: Define Total Surface Area (TSA) and Lateral/Curved Surface Area (LSA/CSA).</a:t>
            </a:r>
          </a:p>
          <a:p>
            <a:pPr lvl="0"/>
            <a:r>
              <a:rPr lang="en-US" sz="1200">
                <a:latin typeface="Calibri"/>
                <a:ea typeface="Calibri"/>
                <a:cs typeface="Calibri"/>
              </a:rPr>
              <a:t>Explain: Derive and recall the formula for TSA of a cube ($6s^2$).</a:t>
            </a:r>
          </a:p>
          <a:p>
            <a:pPr lvl="0"/>
            <a:r>
              <a:rPr lang="en-US" sz="1200">
                <a:latin typeface="Calibri"/>
                <a:ea typeface="Calibri"/>
                <a:cs typeface="Calibri"/>
              </a:rPr>
              <a:t>Explain: Derive and recall the formula for TSA of a cuboid ($2(lb+bh+hl)$).</a:t>
            </a:r>
          </a:p>
          <a:p>
            <a:pPr lvl="0"/>
            <a:r>
              <a:rPr lang="en-US" sz="1200">
                <a:latin typeface="Calibri"/>
                <a:ea typeface="Calibri"/>
                <a:cs typeface="Calibri"/>
              </a:rPr>
              <a:t>Explain: Differentiate between LSA and TSA in word problems.</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Activate prior knowledge before new learning.</a:t>
            </a:r>
          </a:p>
          <a:p>
            <a:pPr lvl="0"/>
            <a:r>
              <a:rPr lang="en-US" sz="1200">
                <a:latin typeface="Calibri"/>
                <a:ea typeface="Calibri"/>
                <a:cs typeface="Calibri"/>
              </a:rPr>
              <a:t>Purpose: Recover prerequisite understanding before introducing new ideas.</a:t>
            </a:r>
          </a:p>
          <a:p>
            <a:pPr lvl="0"/>
            <a:r>
              <a:rPr lang="en-US" sz="1200">
                <a:latin typeface="Calibri"/>
                <a:ea typeface="Calibri"/>
                <a:cs typeface="Calibri"/>
              </a:rPr>
              <a:t>Explain: Reviewing the area formulas for square ($s^2$) and rectangle ($l imes b$).</a:t>
            </a:r>
          </a:p>
          <a:p>
            <a:pPr lvl="0"/>
            <a:r>
              <a:rPr lang="en-US" sz="1200">
                <a:latin typeface="Calibri"/>
                <a:ea typeface="Calibri"/>
                <a:cs typeface="Calibri"/>
              </a:rPr>
              <a:t>Explain: Identifying faces, edges, and vertices of basic 3D shapes.</a:t>
            </a:r>
          </a:p>
          <a:p>
            <a:pPr lvl="0"/>
            <a:r>
              <a:rPr lang="en-US" sz="1200">
                <a:latin typeface="Calibri"/>
                <a:ea typeface="Calibri"/>
                <a:cs typeface="Calibri"/>
              </a:rPr>
              <a:t>Explain: Differentiating between a flat shape (2D) and a solid object (3D).</a:t>
            </a:r>
          </a:p>
          <a:p>
            <a:pPr lvl="0"/>
            <a:r>
              <a:rPr lang="en-US" sz="1200">
                <a:latin typeface="Calibri"/>
                <a:ea typeface="Calibri"/>
                <a:cs typeface="Calibri"/>
              </a:rPr>
              <a:t>Ask: If a cube has an edge of 10 cm, what is its Total Surface Area?</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Create curiosity and bridge into the lesson.</a:t>
            </a:r>
          </a:p>
          <a:p>
            <a:pPr lvl="0"/>
            <a:r>
              <a:rPr lang="en-US" sz="1200">
                <a:latin typeface="Calibri"/>
                <a:ea typeface="Calibri"/>
                <a:cs typeface="Calibri"/>
              </a:rPr>
              <a:t>Purpose: Use a hook to make the lesson meaningful and discussion-ready.</a:t>
            </a:r>
          </a:p>
          <a:p>
            <a:pPr lvl="0"/>
            <a:r>
              <a:rPr lang="en-US" sz="1200">
                <a:latin typeface="Calibri"/>
                <a:ea typeface="Calibri"/>
                <a:cs typeface="Calibri"/>
              </a:rPr>
              <a:t>Explain: Imagine you are wrapping a birthday present. You have a box, some ribbon, and a large sheet of paper. How do you know how much paper to cut? Is it the same amount as if you wanted to fill that box with water?...</a:t>
            </a:r>
          </a:p>
          <a:p>
            <a:pPr lvl="0"/>
            <a:r>
              <a:rPr lang="en-US" sz="1200">
                <a:latin typeface="Calibri"/>
                <a:ea typeface="Calibri"/>
                <a:cs typeface="Calibri"/>
              </a:rPr>
              <a:t>Explain: To bridge the gap between 2D area concepts and 3D surface measurements.</a:t>
            </a:r>
          </a:p>
          <a:p>
            <a:pPr lvl="0"/>
            <a:r>
              <a:rPr lang="en-US" sz="1200">
                <a:latin typeface="Calibri"/>
                <a:ea typeface="Calibri"/>
                <a:cs typeface="Calibri"/>
              </a:rPr>
              <a:t>Explain: To provide a foundational understanding required for complex shapes (Cylinder, Cone) in future sessions.</a:t>
            </a:r>
          </a:p>
          <a:p>
            <a:pPr lvl="0"/>
            <a:r>
              <a:rPr lang="en-US" sz="1200">
                <a:latin typeface="Calibri"/>
                <a:ea typeface="Calibri"/>
                <a:cs typeface="Calibri"/>
              </a:rPr>
              <a:t>Explain: Always write units in square centimeters or meters squared on the board.</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Introduce the central idea and vocabulary.</a:t>
            </a:r>
          </a:p>
          <a:p>
            <a:pPr lvl="0"/>
            <a:r>
              <a:rPr lang="en-US" sz="1200">
                <a:latin typeface="Calibri"/>
                <a:ea typeface="Calibri"/>
                <a:cs typeface="Calibri"/>
              </a:rPr>
              <a:t>Purpose: Define the idea clearly before moving into deeper explanation.</a:t>
            </a:r>
          </a:p>
          <a:p>
            <a:pPr lvl="0"/>
            <a:r>
              <a:rPr lang="en-US" sz="1200">
                <a:latin typeface="Calibri"/>
                <a:ea typeface="Calibri"/>
                <a:cs typeface="Calibri"/>
              </a:rPr>
              <a:t>Explain: This session covers the fundamental concepts of measuring the outer boundary of solid shapes. We distinguish between Total Surface Area (covering everything) and Lateral/Curved Surface Area (covering only sid...</a:t>
            </a:r>
          </a:p>
          <a:p>
            <a:pPr lvl="0"/>
            <a:r>
              <a:rPr lang="en-US" sz="1200">
                <a:latin typeface="Calibri"/>
                <a:ea typeface="Calibri"/>
                <a:cs typeface="Calibri"/>
              </a:rPr>
              <a:t>Explain: Welcome to our exploration of 3D geometry! Today we will learn how to measure the space inside objects (volume) and the amount of material needed to cover them (surface area). These skills are essential for e...</a:t>
            </a:r>
          </a:p>
          <a:p>
            <a:pPr lvl="0"/>
            <a:r>
              <a:rPr lang="en-US" sz="1200">
                <a:latin typeface="Calibri"/>
                <a:ea typeface="Calibri"/>
                <a:cs typeface="Calibri"/>
              </a:rPr>
              <a:t>Explain: Slant Height: The distance measured along the lateral surface from the apex to any point on the base edge (denoted by 'l').</a:t>
            </a:r>
          </a:p>
          <a:p>
            <a:pPr lvl="0"/>
            <a:r>
              <a:rPr lang="en-US" sz="1200">
                <a:latin typeface="Calibri"/>
                <a:ea typeface="Calibri"/>
                <a:cs typeface="Calibri"/>
              </a:rPr>
              <a:t>Explain: Radius: The constant distance from the center of a circle or sphere to its boundary.</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Build the first core concept clearly.</a:t>
            </a:r>
          </a:p>
          <a:p>
            <a:pPr lvl="0"/>
            <a:r>
              <a:rPr lang="en-US" sz="1200">
                <a:latin typeface="Calibri"/>
                <a:ea typeface="Calibri"/>
                <a:cs typeface="Calibri"/>
              </a:rPr>
              <a:t>Purpose: Teach the first core idea with direct explanation and examples.</a:t>
            </a:r>
          </a:p>
          <a:p>
            <a:pPr lvl="0"/>
            <a:r>
              <a:rPr lang="en-US" sz="1200">
                <a:latin typeface="Calibri"/>
                <a:ea typeface="Calibri"/>
                <a:cs typeface="Calibri"/>
              </a:rPr>
              <a:t>Explain: It represents the total amount of material needed to cover the entire object. For cubes, it is $6s^2$. For cuboids, it accounts for top, bottom, front, back, left, and right sides: $2(lb + bh + hl)$.</a:t>
            </a:r>
          </a:p>
          <a:p>
            <a:pPr lvl="0"/>
            <a:r>
              <a:rPr lang="en-US" sz="1200">
                <a:latin typeface="Calibri"/>
                <a:ea typeface="Calibri"/>
                <a:cs typeface="Calibri"/>
              </a:rPr>
              <a:t>Explain: A dice (Cube) with side 2cm.</a:t>
            </a:r>
          </a:p>
          <a:p>
            <a:pPr lvl="0"/>
            <a:r>
              <a:rPr lang="en-US" sz="1200">
                <a:latin typeface="Calibri"/>
                <a:ea typeface="Calibri"/>
                <a:cs typeface="Calibri"/>
              </a:rPr>
              <a:t>Explain: An aquarium tank (Cuboid).</a:t>
            </a:r>
          </a:p>
          <a:p>
            <a:pPr lvl="0"/>
            <a:r>
              <a:rPr lang="en-US" sz="1200">
                <a:latin typeface="Calibri"/>
                <a:ea typeface="Calibri"/>
                <a:cs typeface="Calibri"/>
              </a:rPr>
              <a:t>Explain: Surface Area is the total area covered by the outer skin of an object.</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Explain the second concept with visual emphasis.</a:t>
            </a:r>
          </a:p>
          <a:p>
            <a:pPr lvl="0"/>
            <a:r>
              <a:rPr lang="en-US" sz="1200">
                <a:latin typeface="Calibri"/>
                <a:ea typeface="Calibri"/>
                <a:cs typeface="Calibri"/>
              </a:rPr>
              <a:t>Purpose: Use a visual to make the concept easier to see, compare, or trace.</a:t>
            </a:r>
          </a:p>
          <a:p>
            <a:pPr lvl="0"/>
            <a:r>
              <a:rPr lang="en-US" sz="1200">
                <a:latin typeface="Calibri"/>
                <a:ea typeface="Calibri"/>
                <a:cs typeface="Calibri"/>
              </a:rPr>
              <a:t>Explain: For a cuboid, this is the sum of the areas of the four vertical walls. Formula: $2h(l+b)$. For a cube, it is $4s^2$ (excluding top/bottom).</a:t>
            </a:r>
          </a:p>
          <a:p>
            <a:pPr lvl="0"/>
            <a:r>
              <a:rPr lang="en-US" sz="1200">
                <a:latin typeface="Calibri"/>
                <a:ea typeface="Calibri"/>
                <a:cs typeface="Calibri"/>
              </a:rPr>
              <a:t>Explain: Painting a room (excluding floor and ceiling).</a:t>
            </a:r>
          </a:p>
          <a:p>
            <a:pPr lvl="0"/>
            <a:r>
              <a:rPr lang="en-US" sz="1200">
                <a:latin typeface="Calibri"/>
                <a:ea typeface="Calibri"/>
                <a:cs typeface="Calibri"/>
              </a:rPr>
              <a:t>Explain: Labeling only the sides of a box.</a:t>
            </a:r>
          </a:p>
          <a:p>
            <a:pPr lvl="0"/>
            <a:r>
              <a:rPr lang="en-US" sz="1200">
                <a:latin typeface="Calibri"/>
                <a:ea typeface="Calibri"/>
                <a:cs typeface="Calibri"/>
              </a:rPr>
              <a:t>Explain: Lateral</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Model the thinking process step by step.</a:t>
            </a:r>
          </a:p>
          <a:p>
            <a:pPr lvl="0"/>
            <a:r>
              <a:rPr lang="en-US" sz="1200">
                <a:latin typeface="Calibri"/>
                <a:ea typeface="Calibri"/>
                <a:cs typeface="Calibri"/>
              </a:rPr>
              <a:t>Purpose: Model the process out loud and show how to think through the example.</a:t>
            </a:r>
          </a:p>
          <a:p>
            <a:pPr lvl="0"/>
            <a:r>
              <a:rPr lang="en-US" sz="1200">
                <a:latin typeface="Calibri"/>
                <a:ea typeface="Calibri"/>
                <a:cs typeface="Calibri"/>
              </a:rPr>
              <a:t>Explain: First, we calculate the volume by squaring the radius (49), multiplying by height (10) and pi. Then for TSA, we add the area of the two circular bases to the curved surface area.</a:t>
            </a:r>
          </a:p>
          <a:p>
            <a:pPr lvl="0"/>
            <a:r>
              <a:rPr lang="en-US" sz="1200">
                <a:latin typeface="Calibri"/>
                <a:ea typeface="Calibri"/>
                <a:cs typeface="Calibri"/>
              </a:rPr>
              <a:t>Explain: [object Object]</a:t>
            </a:r>
          </a:p>
          <a:p>
            <a:pPr lvl="0"/>
            <a:r>
              <a:rPr lang="en-US" sz="1200">
                <a:latin typeface="Calibri"/>
                <a:ea typeface="Calibri"/>
                <a:cs typeface="Calibri"/>
              </a:rPr>
              <a:t>Explain: Ask students to identify which faces are included in LSA vs TSA for a cuboid room (floor excluded).</a:t>
            </a:r>
          </a:p>
          <a:p>
            <a:pPr lvl="0"/>
            <a:r>
              <a:rPr lang="en-US" sz="1200">
                <a:latin typeface="Calibri"/>
                <a:ea typeface="Calibri"/>
                <a:cs typeface="Calibri"/>
              </a:rPr>
              <a:t>Explain: Check if students confuse 'Volume' with 'Surface Area'.</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Help students practice with support.</a:t>
            </a:r>
          </a:p>
          <a:p>
            <a:pPr lvl="0"/>
            <a:r>
              <a:rPr lang="en-US" sz="1200">
                <a:latin typeface="Calibri"/>
                <a:ea typeface="Calibri"/>
                <a:cs typeface="Calibri"/>
              </a:rPr>
              <a:t>Purpose: Coach students through a supported practice task.</a:t>
            </a:r>
          </a:p>
          <a:p>
            <a:pPr lvl="0"/>
            <a:r>
              <a:rPr lang="en-US" sz="1200">
                <a:latin typeface="Calibri"/>
                <a:ea typeface="Calibri"/>
                <a:cs typeface="Calibri"/>
              </a:rPr>
              <a:t>Explain: Distribute paper nets of cubes and cuboids to students.</a:t>
            </a:r>
          </a:p>
          <a:p>
            <a:pPr lvl="0"/>
            <a:r>
              <a:rPr lang="en-US" sz="1200">
                <a:latin typeface="Calibri"/>
                <a:ea typeface="Calibri"/>
                <a:cs typeface="Calibri"/>
              </a:rPr>
              <a:t>Explain: Ask students to color the 'Top' face red, 'Bottom' blue, and all side walls green.</a:t>
            </a:r>
          </a:p>
          <a:p>
            <a:pPr lvl="0"/>
            <a:r>
              <a:rPr lang="en-US" sz="1200">
                <a:latin typeface="Calibri"/>
                <a:ea typeface="Calibri"/>
                <a:cs typeface="Calibri"/>
              </a:rPr>
              <a:t>Explain: Students calculate the area of each colored section using given dimensions (e.g., s=5cm).</a:t>
            </a:r>
          </a:p>
          <a:p>
            <a:pPr lvl="0"/>
            <a:r>
              <a:rPr lang="en-US" sz="1200">
                <a:latin typeface="Calibri"/>
                <a:ea typeface="Calibri"/>
                <a:cs typeface="Calibri"/>
              </a:rPr>
              <a:t>Explain: Group discussion: Sum the areas for TSA. Then sum only the green faces for LSA.</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Check understanding during the lesson.</a:t>
            </a:r>
          </a:p>
          <a:p>
            <a:pPr lvl="0"/>
            <a:r>
              <a:rPr lang="en-US" sz="1200">
                <a:latin typeface="Calibri"/>
                <a:ea typeface="Calibri"/>
                <a:cs typeface="Calibri"/>
              </a:rPr>
              <a:t>Purpose: Diagnose understanding before closing the lesson.</a:t>
            </a:r>
          </a:p>
          <a:p>
            <a:pPr lvl="0"/>
            <a:r>
              <a:rPr lang="en-US" sz="1200">
                <a:latin typeface="Calibri"/>
                <a:ea typeface="Calibri"/>
                <a:cs typeface="Calibri"/>
              </a:rPr>
              <a:t>Explain: Ask students to hold up fingers: 1 finger for TSA, 4 fingers for LSA when you say 'Painting a room' (excluding floor/ceiling).</a:t>
            </a:r>
          </a:p>
          <a:p>
            <a:pPr lvl="0"/>
            <a:r>
              <a:rPr lang="en-US" sz="1200">
                <a:latin typeface="Calibri"/>
                <a:ea typeface="Calibri"/>
                <a:cs typeface="Calibri"/>
              </a:rPr>
              <a:t>Ask: Calculate the cost of painting the four walls of a hall with dimensions 20m x 15m and height 8m at Rs. 10 per sq.m.</a:t>
            </a:r>
          </a:p>
          <a:p>
            <a:pPr lvl="0"/>
            <a:r>
              <a:rPr lang="en-US" sz="1200">
                <a:latin typeface="Calibri"/>
                <a:ea typeface="Calibri"/>
                <a:cs typeface="Calibri"/>
              </a:rPr>
              <a:t>Ask: If a cube has an edge of 10 cm, what is its Total Surface Area?</a:t>
            </a:r>
          </a:p>
          <a:p>
            <a:pPr lvl="0"/>
            <a:r>
              <a:rPr lang="en-US" sz="1200">
                <a:latin typeface="Calibri"/>
                <a:ea typeface="Calibri"/>
                <a:cs typeface="Calibri"/>
              </a:rPr>
              <a:t>Ask: Why do we multiply by 2 in the cuboid TSA formula?</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Summarize the important points clearly.</a:t>
            </a:r>
          </a:p>
          <a:p>
            <a:pPr lvl="0"/>
            <a:r>
              <a:rPr lang="en-US" sz="1200">
                <a:latin typeface="Calibri"/>
                <a:ea typeface="Calibri"/>
                <a:cs typeface="Calibri"/>
              </a:rPr>
              <a:t>Purpose: Synthesize the lesson and make the memory anchors explicit.</a:t>
            </a:r>
          </a:p>
          <a:p>
            <a:pPr lvl="0"/>
            <a:r>
              <a:rPr lang="en-US" sz="1200">
                <a:latin typeface="Calibri"/>
                <a:ea typeface="Calibri"/>
                <a:cs typeface="Calibri"/>
              </a:rPr>
              <a:t>Explain: We learned that Surface Area is the total area of all faces. We derived specific formulas for Cubes ($6s^2$) and Cuboids ($2(lb+bh+hl)$).</a:t>
            </a:r>
          </a:p>
          <a:p>
            <a:pPr lvl="0"/>
            <a:r>
              <a:rPr lang="en-US" sz="1200">
                <a:latin typeface="Calibri"/>
                <a:ea typeface="Calibri"/>
                <a:cs typeface="Calibri"/>
              </a:rPr>
              <a:t>Explain: Distinguishing between TSA (all sides) and LSA (side walls only) is critical.</a:t>
            </a:r>
          </a:p>
          <a:p>
            <a:pPr lvl="0"/>
            <a:r>
              <a:rPr lang="en-US" sz="1200">
                <a:latin typeface="Calibri"/>
                <a:ea typeface="Calibri"/>
                <a:cs typeface="Calibri"/>
              </a:rPr>
              <a:t>Explain: Volume -&gt; Cubic Units</a:t>
            </a:r>
          </a:p>
          <a:p>
            <a:pPr lvl="0"/>
            <a:r>
              <a:rPr lang="en-US" sz="1200">
                <a:latin typeface="Calibri"/>
                <a:ea typeface="Calibri"/>
                <a:cs typeface="Calibri"/>
              </a:rPr>
              <a:t>Explain: Surface Area -&gt; Square Units</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p:nvPr>
            <p:ph type="sldImg" idx="0"/>
          </p:nvPr>
        </p:nvSpPr>
        <p:spPr/>
      </p:sp>
      <p:sp>
        <p:nvSpPr>
          <p:cNvPr id="3" name="Notes Placeholder 2"/>
          <p:cNvSpPr/>
          <p:nvPr>
            <p:ph type="body" idx="1"/>
          </p:nvPr>
        </p:nvSpPr>
        <p:spPr/>
        <p:txBody>
          <a:bodyPr/>
          <a:lstStyle/>
          <a:p>
            <a:pPr lvl="0"/>
            <a:r>
              <a:rPr lang="en-US" sz="1200">
                <a:latin typeface="Calibri"/>
                <a:ea typeface="Calibri"/>
                <a:cs typeface="Calibri"/>
              </a:rPr>
              <a:t>Purpose: Close the lesson and set up follow-through.</a:t>
            </a:r>
          </a:p>
          <a:p>
            <a:pPr lvl="0"/>
            <a:r>
              <a:rPr lang="en-US" sz="1200">
                <a:latin typeface="Calibri"/>
                <a:ea typeface="Calibri"/>
                <a:cs typeface="Calibri"/>
              </a:rPr>
              <a:t>Purpose: End the class with clear follow-through and future connection.</a:t>
            </a:r>
          </a:p>
          <a:p>
            <a:pPr lvl="0"/>
            <a:r>
              <a:rPr lang="en-US" sz="1200">
                <a:latin typeface="Calibri"/>
                <a:ea typeface="Calibri"/>
                <a:cs typeface="Calibri"/>
              </a:rPr>
              <a:t>Explain: Next session, we will apply these concepts to cylinders, cones, and spheres.</a:t>
            </a:r>
          </a:p>
          <a:p>
            <a:pPr lvl="0"/>
            <a:r>
              <a:rPr lang="en-US" sz="1200">
                <a:latin typeface="Calibri"/>
                <a:ea typeface="Calibri"/>
                <a:cs typeface="Calibri"/>
              </a:rPr>
              <a:t>Ask: Ask one student to restate the homework and one student to restate the main lesson idea.</a:t>
            </a:r>
          </a:p>
          <a:p>
            <a:pPr lvl="0"/>
            <a:r>
              <a:rPr lang="en-US" sz="1200">
                <a:latin typeface="Calibri"/>
                <a:ea typeface="Calibri"/>
                <a:cs typeface="Calibri"/>
              </a:rPr>
              <a:t>Listen for: Students should state the task correctly and connect it to today’s concept.</a:t>
            </a:r>
          </a:p>
          <a:p>
            <a:pPr lvl="0"/>
            <a:r>
              <a:rPr lang="en-US" sz="1200">
                <a:latin typeface="Calibri"/>
                <a:ea typeface="Calibri"/>
                <a:cs typeface="Calibri"/>
              </a:rPr>
              <a:t>Transition: End the session with a confident recap and preview of the next class.</a:t>
            </a:r>
          </a:p>
          <a:p>
            <a:pPr lvl="0"/>
            <a:r>
              <a:rPr lang="en-US" sz="1200">
                <a:latin typeface="Calibri"/>
                <a:ea typeface="Calibri"/>
                <a:cs typeface="Calibri"/>
              </a:rPr>
              <a:t>Transition: Link this slide naturally to the next step in the lesson.</a:t>
            </a:r>
          </a:p>
        </p:txBody>
      </p:sp>
      <p:sp>
        <p:nvSpPr>
          <p:cNvPr id="4" name="Slide Number Placeholder 3"/>
          <p:cNvSpPr/>
          <p:nvPr>
            <p:ph type="sldNum" idx="5"/>
          </p:nvPr>
        </p:nvSpPr>
        <p:spPr/>
        <p:txBody>
          <a:bodyPr/>
          <a:lstStyle/>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diagram-slide-1.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diagram-slid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diagram-slid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diagram-slid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7955280" cy="658368"/>
          </a:xfrm>
          <a:prstGeom prst="rect">
            <a:avLst/>
          </a:prstGeom>
          <a:noFill/>
          <a:ln w="0">
            <a:noFill/>
            <a:prstDash val="solid"/>
          </a:ln>
        </p:spPr>
        <p:txBody>
          <a:bodyPr anchor="t" rtlCol="false" tIns="0" lIns="0" bIns="0" rIns="0">
            <a:spAutoFit/>
          </a:bodyPr>
          <a:lstStyle/>
          <a:p>
            <a:pPr algn="l" marL="0" indent="0" lvl="0"/>
            <a:r>
              <a:rPr lang="en-US" sz="3000" b="1">
                <a:solidFill>
                  <a:srgbClr val="1F2937"/>
                </a:solidFill>
                <a:latin typeface="Cambria"/>
                <a:ea typeface="Cambria"/>
                <a:cs typeface="Cambria"/>
              </a:rPr>
              <a:t>Surface Areas and Volumes (3-D Shapes)</a:t>
            </a:r>
          </a:p>
        </p:txBody>
      </p:sp>
      <p:sp>
        <p:nvSpPr>
          <p:cNvPr id="4" name="TextBox 4"/>
          <p:cNvSpPr txBox="true"/>
          <p:nvPr/>
        </p:nvSpPr>
        <p:spPr>
          <a:xfrm>
            <a:off x="868680" y="1444752"/>
            <a:ext cx="795528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Title / Session Identity</a:t>
            </a:r>
          </a:p>
        </p:txBody>
      </p:sp>
      <p:sp>
        <p:nvSpPr>
          <p:cNvPr id="5" name="TextBox 5"/>
          <p:cNvSpPr txBox="true"/>
          <p:nvPr/>
        </p:nvSpPr>
        <p:spPr>
          <a:xfrm>
            <a:off x="868680" y="2048256"/>
            <a:ext cx="7955280" cy="539496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900">
                <a:solidFill>
                  <a:srgbClr val="1F2937"/>
                </a:solidFill>
                <a:latin typeface="Aptos"/>
                <a:ea typeface="Aptos"/>
                <a:cs typeface="Aptos"/>
              </a:rPr>
              <a:t>Surface Areas and Volumes (3-D Shapes)</a:t>
            </a:r>
          </a:p>
          <a:p>
            <a:pPr algn="l" marL="0" indent="0" lvl="0"/>
            <a:r>
              <a:rPr lang="en-US" sz="1900">
                <a:solidFill>
                  <a:srgbClr val="1F2937"/>
                </a:solidFill>
                <a:latin typeface="Aptos"/>
                <a:ea typeface="Aptos"/>
                <a:cs typeface="Aptos"/>
              </a:rPr>
              <a:t>Surface Areas and Volumes (3-D Shapes)</a:t>
            </a:r>
          </a:p>
          <a:p>
            <a:pPr algn="l" marL="0" indent="0" lvl="0"/>
            <a:r>
              <a:rPr lang="en-US" sz="1900">
                <a:solidFill>
                  <a:srgbClr val="1F2937"/>
                </a:solidFill>
                <a:latin typeface="Aptos"/>
                <a:ea typeface="Aptos"/>
                <a:cs typeface="Aptos"/>
              </a:rPr>
              <a:t>Mathematics | Class IX / Class X</a:t>
            </a:r>
          </a:p>
          <a:p>
            <a:pPr algn="l" marL="0" indent="0" lvl="0"/>
            <a:r>
              <a:rPr lang="en-US" sz="1900">
                <a:solidFill>
                  <a:srgbClr val="1F2937"/>
                </a:solidFill>
                <a:latin typeface="Aptos"/>
                <a:ea typeface="Aptos"/>
                <a:cs typeface="Aptos"/>
              </a:rPr>
              <a:t>• Mathematics | Class IX / Class X</a:t>
            </a:r>
          </a:p>
          <a:p>
            <a:pPr algn="l" marL="0" indent="0" lvl="0"/>
            <a:r>
              <a:rPr lang="en-US" sz="1900">
                <a:solidFill>
                  <a:srgbClr val="1F2937"/>
                </a:solidFill>
                <a:latin typeface="Aptos"/>
                <a:ea typeface="Aptos"/>
                <a:cs typeface="Aptos"/>
              </a:rPr>
              <a:t>• Surface Areas and Volumes (3-D Shapes)</a:t>
            </a:r>
          </a:p>
          <a:p>
            <a:pPr algn="l" marL="0" indent="0" lvl="0"/>
            <a:r>
              <a:rPr lang="en-US" sz="1900">
                <a:solidFill>
                  <a:srgbClr val="1F2937"/>
                </a:solidFill>
                <a:latin typeface="Aptos"/>
                <a:ea typeface="Aptos"/>
                <a:cs typeface="Aptos"/>
              </a:rPr>
              <a:t>• 45 minute session</a:t>
            </a:r>
          </a:p>
        </p:txBody>
      </p:sp>
      <p:sp>
        <p:nvSpPr>
          <p:cNvPr id="6" name="Visual Frame 6"/>
          <p:cNvSpPr/>
          <p:nvPr/>
        </p:nvSpPr>
        <p:spPr>
          <a:xfrm>
            <a:off x="9875520" y="1901952"/>
            <a:ext cx="7955280" cy="5577840"/>
          </a:xfrm>
          <a:prstGeom prst="roundRect">
            <a:avLst/>
          </a:prstGeom>
          <a:solidFill>
            <a:srgbClr val="FFFFFF"/>
          </a:solidFill>
          <a:ln w="12700">
            <a:solidFill>
              <a:srgbClr val="D97706"/>
            </a:solidFill>
            <a:prstDash val="solid"/>
          </a:ln>
        </p:spPr>
      </p:sp>
      <p:pic>
        <p:nvPicPr>
          <p:cNvPr id="7" name="Visual 7" descr="Teacher presentation visual"/>
          <p:cNvPicPr>
            <a:picLocks noChangeAspect="1"/>
          </p:cNvPicPr>
          <p:nvPr/>
        </p:nvPicPr>
        <p:blipFill>
          <a:blip r:embed="rId3"/>
          <a:stretch>
            <a:fillRect/>
          </a:stretch>
        </p:blipFill>
        <p:spPr>
          <a:xfrm>
            <a:off x="10354056" y="2066544"/>
            <a:ext cx="6998208" cy="5248656"/>
          </a:xfrm>
          <a:prstGeom prst="rect">
            <a:avLst/>
          </a:prstGeom>
        </p:spPr>
      </p:pic>
      <p:sp>
        <p:nvSpPr>
          <p:cNvPr id="8" name="TextBox 8"/>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Understand what today’s lesson is about.   •   Timing: 4 min   •   Notes: 7 cues</a:t>
            </a:r>
          </a:p>
        </p:txBody>
      </p:sp>
      <p:sp>
        <p:nvSpPr>
          <p:cNvPr id="9" name="TextBox 9"/>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What We Will Learn</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Learning Outcomes</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Define Total Surface Area (TSA) and Lateral/Curved Surface Area (LSA/CSA).</a:t>
            </a:r>
          </a:p>
          <a:p>
            <a:pPr algn="l" marL="0" indent="0" lvl="0"/>
            <a:r>
              <a:rPr lang="en-US" sz="1700">
                <a:solidFill>
                  <a:srgbClr val="1F2937"/>
                </a:solidFill>
                <a:latin typeface="Aptos"/>
                <a:ea typeface="Aptos"/>
                <a:cs typeface="Aptos"/>
              </a:rPr>
              <a:t>Derive and recall the formula for TSA of a cube ($6s^2$).</a:t>
            </a:r>
          </a:p>
          <a:p>
            <a:pPr algn="l" marL="0" indent="0" lvl="0"/>
            <a:r>
              <a:rPr lang="en-US" sz="1700">
                <a:solidFill>
                  <a:srgbClr val="1F2937"/>
                </a:solidFill>
                <a:latin typeface="Aptos"/>
                <a:ea typeface="Aptos"/>
                <a:cs typeface="Aptos"/>
              </a:rPr>
              <a:t>Derive and recall the formula for TSA of a cuboid ($2(lb+bh+hl)$).</a:t>
            </a:r>
          </a:p>
          <a:p>
            <a:pPr algn="l" marL="0" indent="0" lvl="0"/>
            <a:r>
              <a:rPr lang="en-US" sz="1700">
                <a:solidFill>
                  <a:srgbClr val="1F2937"/>
                </a:solidFill>
                <a:latin typeface="Aptos"/>
                <a:ea typeface="Aptos"/>
                <a:cs typeface="Aptos"/>
              </a:rPr>
              <a:t>• Define Total Surface Area (TSA) and Lateral/Curved Surface Area (LSA/CSA).</a:t>
            </a:r>
          </a:p>
          <a:p>
            <a:pPr algn="l" marL="0" indent="0" lvl="0"/>
            <a:r>
              <a:rPr lang="en-US" sz="1700">
                <a:solidFill>
                  <a:srgbClr val="1F2937"/>
                </a:solidFill>
                <a:latin typeface="Aptos"/>
                <a:ea typeface="Aptos"/>
                <a:cs typeface="Aptos"/>
              </a:rPr>
              <a:t>• Derive and recall the formula for TSA of a cube ($6s^2$).</a:t>
            </a:r>
          </a:p>
          <a:p>
            <a:pPr algn="l" marL="0" indent="0" lvl="0"/>
            <a:r>
              <a:rPr lang="en-US" sz="1700">
                <a:solidFill>
                  <a:srgbClr val="1F2937"/>
                </a:solidFill>
                <a:latin typeface="Aptos"/>
                <a:ea typeface="Aptos"/>
                <a:cs typeface="Aptos"/>
              </a:rPr>
              <a:t>• Derive and recall the formula for TSA of a cuboid ($2(lb+bh+hl)$).</a:t>
            </a:r>
          </a:p>
          <a:p>
            <a:pPr algn="l" marL="0" indent="0" lvl="0"/>
            <a:r>
              <a:rPr lang="en-US" sz="1700">
                <a:solidFill>
                  <a:srgbClr val="1F2937"/>
                </a:solidFill>
                <a:latin typeface="Aptos"/>
                <a:ea typeface="Aptos"/>
                <a:cs typeface="Aptos"/>
              </a:rPr>
              <a:t>• Differentiate between LSA and TSA in word problems.</a:t>
            </a:r>
          </a:p>
          <a:p>
            <a:pPr algn="l" marL="0" indent="0" lvl="0"/>
            <a:r>
              <a:rPr lang="en-US" sz="1700">
                <a:solidFill>
                  <a:srgbClr val="1F2937"/>
                </a:solidFill>
                <a:latin typeface="Aptos"/>
                <a:ea typeface="Aptos"/>
                <a:cs typeface="Aptos"/>
              </a:rPr>
              <a:t>• Calculate surface areas given dimensions.</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Know what they should learn by the end of class.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Recall and Prepare</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Prior Knowledge / Recall</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Understanding of 2D shapes: Square, Rectangle</a:t>
            </a:r>
          </a:p>
          <a:p>
            <a:pPr algn="l" marL="0" indent="0" lvl="0"/>
            <a:r>
              <a:rPr lang="en-US" sz="1700">
                <a:solidFill>
                  <a:srgbClr val="1F2937"/>
                </a:solidFill>
                <a:latin typeface="Aptos"/>
                <a:ea typeface="Aptos"/>
                <a:cs typeface="Aptos"/>
              </a:rPr>
              <a:t>Perimeter and Area calculations for squares and rectangles</a:t>
            </a:r>
          </a:p>
          <a:p>
            <a:pPr algn="l" marL="0" indent="0" lvl="0"/>
            <a:r>
              <a:rPr lang="en-US" sz="1700">
                <a:solidFill>
                  <a:srgbClr val="1F2937"/>
                </a:solidFill>
                <a:latin typeface="Aptos"/>
                <a:ea typeface="Aptos"/>
                <a:cs typeface="Aptos"/>
              </a:rPr>
              <a:t>Basic terminology: Length (l), Breadth (b), Height (h)</a:t>
            </a:r>
          </a:p>
          <a:p>
            <a:pPr algn="l" marL="0" indent="0" lvl="0"/>
            <a:r>
              <a:rPr lang="en-US" sz="1700">
                <a:solidFill>
                  <a:srgbClr val="1F2937"/>
                </a:solidFill>
                <a:latin typeface="Aptos"/>
                <a:ea typeface="Aptos"/>
                <a:cs typeface="Aptos"/>
              </a:rPr>
              <a:t>• Understanding of 2D shapes: Square, Rectangle</a:t>
            </a:r>
          </a:p>
          <a:p>
            <a:pPr algn="l" marL="0" indent="0" lvl="0"/>
            <a:r>
              <a:rPr lang="en-US" sz="1700">
                <a:solidFill>
                  <a:srgbClr val="1F2937"/>
                </a:solidFill>
                <a:latin typeface="Aptos"/>
                <a:ea typeface="Aptos"/>
                <a:cs typeface="Aptos"/>
              </a:rPr>
              <a:t>• Perimeter and Area calculations for squares and rectangles</a:t>
            </a:r>
          </a:p>
          <a:p>
            <a:pPr algn="l" marL="0" indent="0" lvl="0"/>
            <a:r>
              <a:rPr lang="en-US" sz="1700">
                <a:solidFill>
                  <a:srgbClr val="1F2937"/>
                </a:solidFill>
                <a:latin typeface="Aptos"/>
                <a:ea typeface="Aptos"/>
                <a:cs typeface="Aptos"/>
              </a:rPr>
              <a:t>• Basic terminology: Length (l), Breadth (b), Height (h)</a:t>
            </a:r>
          </a:p>
          <a:p>
            <a:pPr algn="l" marL="0" indent="0" lvl="0"/>
            <a:r>
              <a:rPr lang="en-US" sz="1700">
                <a:solidFill>
                  <a:srgbClr val="1F2937"/>
                </a:solidFill>
                <a:latin typeface="Aptos"/>
                <a:ea typeface="Aptos"/>
                <a:cs typeface="Aptos"/>
              </a:rPr>
              <a:t>• Concept of 'faces' in a solid object</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Reconnect with ideas needed for today’s topic.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Hook and Curiosity</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Lesson Hook / Bridge</a:t>
            </a:r>
          </a:p>
        </p:txBody>
      </p:sp>
      <p:sp>
        <p:nvSpPr>
          <p:cNvPr id="5" name="TextBox 5"/>
          <p:cNvSpPr txBox="true"/>
          <p:nvPr/>
        </p:nvSpPr>
        <p:spPr>
          <a:xfrm>
            <a:off x="868680" y="2048256"/>
            <a:ext cx="1014984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Imagine you are wrapping a birthday present. You have a box, some ribbon, and a large sheet of paper. How do you know how much paper to c...</a:t>
            </a:r>
          </a:p>
          <a:p>
            <a:pPr algn="l" marL="0" indent="0" lvl="0"/>
            <a:r>
              <a:rPr lang="en-US" sz="1700">
                <a:solidFill>
                  <a:srgbClr val="1F2937"/>
                </a:solidFill>
                <a:latin typeface="Aptos"/>
                <a:ea typeface="Aptos"/>
                <a:cs typeface="Aptos"/>
              </a:rPr>
              <a:t>• Imagine you are wrapping a birthday present. You have a box, some ribbon, and a large sheet of paper. How do you know how much paper to cut? Is it the same amount as if you want...</a:t>
            </a:r>
          </a:p>
          <a:p>
            <a:pPr algn="l" marL="0" indent="0" lvl="0"/>
            <a:r>
              <a:rPr lang="en-US" sz="1700">
                <a:solidFill>
                  <a:srgbClr val="1F2937"/>
                </a:solidFill>
                <a:latin typeface="Aptos"/>
                <a:ea typeface="Aptos"/>
                <a:cs typeface="Aptos"/>
              </a:rPr>
              <a:t>• This session introduces the chapter 'Surface Areas and Volumes' for Class IX/X. It focuses on defining total surface area (TSA) and lateral/curved surface area (LSA/CSA) specifi...</a:t>
            </a:r>
          </a:p>
        </p:txBody>
      </p:sp>
      <p:sp>
        <p:nvSpPr>
          <p:cNvPr id="6" name="Visual Frame 6"/>
          <p:cNvSpPr/>
          <p:nvPr/>
        </p:nvSpPr>
        <p:spPr>
          <a:xfrm>
            <a:off x="12161520" y="1901952"/>
            <a:ext cx="5669280" cy="4297680"/>
          </a:xfrm>
          <a:prstGeom prst="roundRect">
            <a:avLst/>
          </a:prstGeom>
          <a:solidFill>
            <a:srgbClr val="FFFFFF"/>
          </a:solidFill>
          <a:ln w="12700">
            <a:solidFill>
              <a:srgbClr val="D97706"/>
            </a:solidFill>
            <a:prstDash val="solid"/>
          </a:ln>
        </p:spPr>
      </p:sp>
      <p:pic>
        <p:nvPicPr>
          <p:cNvPr id="7" name="Visual 7" descr="Teacher presentation visual"/>
          <p:cNvPicPr>
            <a:picLocks noChangeAspect="1"/>
          </p:cNvPicPr>
          <p:nvPr/>
        </p:nvPicPr>
        <p:blipFill>
          <a:blip r:embed="rId3"/>
          <a:stretch>
            <a:fillRect/>
          </a:stretch>
        </p:blipFill>
        <p:spPr>
          <a:xfrm>
            <a:off x="12350496" y="2066544"/>
            <a:ext cx="5291328" cy="3968496"/>
          </a:xfrm>
          <a:prstGeom prst="rect">
            <a:avLst/>
          </a:prstGeom>
        </p:spPr>
      </p:pic>
      <p:sp>
        <p:nvSpPr>
          <p:cNvPr id="8" name="TextBox 8"/>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See why the topic matters.   •   Timing: 4 min   •   Notes: 7 cues</a:t>
            </a:r>
          </a:p>
        </p:txBody>
      </p:sp>
      <p:sp>
        <p:nvSpPr>
          <p:cNvPr id="9" name="TextBox 9"/>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Topic Introduction</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Topic Introduction</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This session covers the fundamental concepts of measuring the outer boundary of solid shapes. We distinguish between Total Surface Area (...</a:t>
            </a:r>
          </a:p>
          <a:p>
            <a:pPr algn="l" marL="0" indent="0" lvl="0"/>
            <a:r>
              <a:rPr lang="en-US" sz="1700">
                <a:solidFill>
                  <a:srgbClr val="1F2937"/>
                </a:solidFill>
                <a:latin typeface="Aptos"/>
                <a:ea typeface="Aptos"/>
                <a:cs typeface="Aptos"/>
              </a:rPr>
              <a:t>Welcome to our exploration of 3D geometry! Today we will learn how to measure the space inside objects (volume) and the amount of materia...</a:t>
            </a:r>
          </a:p>
          <a:p>
            <a:pPr algn="l" marL="0" indent="0" lvl="0"/>
            <a:r>
              <a:rPr lang="en-US" sz="1700">
                <a:solidFill>
                  <a:srgbClr val="1F2937"/>
                </a:solidFill>
                <a:latin typeface="Aptos"/>
                <a:ea typeface="Aptos"/>
                <a:cs typeface="Aptos"/>
              </a:rPr>
              <a:t>• This session covers the fundamental concepts of measuring the outer boundary of solid shapes. We distinguish between Total Surface Area (covering everything) and Lateral/Curved...</a:t>
            </a:r>
          </a:p>
          <a:p>
            <a:pPr algn="l" marL="0" indent="0" lvl="0"/>
            <a:r>
              <a:rPr lang="en-US" sz="1700">
                <a:solidFill>
                  <a:srgbClr val="1F2937"/>
                </a:solidFill>
                <a:latin typeface="Aptos"/>
                <a:ea typeface="Aptos"/>
                <a:cs typeface="Aptos"/>
              </a:rPr>
              <a:t>• Welcome to our exploration of 3D geometry! Today we will learn how to measure the space inside objects (volume) and the amount of material needed to cover them (surface area). T...</a:t>
            </a:r>
          </a:p>
          <a:p>
            <a:pPr algn="l" marL="0" indent="0" lvl="0"/>
            <a:r>
              <a:rPr lang="en-US" sz="1700">
                <a:solidFill>
                  <a:srgbClr val="1F2937"/>
                </a:solidFill>
                <a:latin typeface="Aptos"/>
                <a:ea typeface="Aptos"/>
                <a:cs typeface="Aptos"/>
              </a:rPr>
              <a:t>• Slant Height: The distance measured along the lateral surface from the apex to any point on the base edge (denoted by 'l').</a:t>
            </a:r>
          </a:p>
          <a:p>
            <a:pPr algn="l" marL="0" indent="0" lvl="0"/>
            <a:r>
              <a:rPr lang="en-US" sz="1700">
                <a:solidFill>
                  <a:srgbClr val="1F2937"/>
                </a:solidFill>
                <a:latin typeface="Aptos"/>
                <a:ea typeface="Aptos"/>
                <a:cs typeface="Aptos"/>
              </a:rPr>
              <a:t>• Radius: The constant distance from the center of a circle or sphere to its boundary.</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Understand the main concept and basic terms.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Total Surface Area (TSA)</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Core Concept A</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The sum of the areas of all external faces of a 3D solid.</a:t>
            </a:r>
          </a:p>
          <a:p>
            <a:pPr algn="l" marL="0" indent="0" lvl="0"/>
            <a:r>
              <a:rPr lang="en-US" sz="1700">
                <a:solidFill>
                  <a:srgbClr val="1F2937"/>
                </a:solidFill>
                <a:latin typeface="Aptos"/>
                <a:ea typeface="Aptos"/>
                <a:cs typeface="Aptos"/>
              </a:rPr>
              <a:t>Total Surface Area</a:t>
            </a:r>
          </a:p>
          <a:p>
            <a:pPr algn="l" marL="0" indent="0" lvl="0"/>
            <a:r>
              <a:rPr lang="en-US" sz="1700">
                <a:solidFill>
                  <a:srgbClr val="1F2937"/>
                </a:solidFill>
                <a:latin typeface="Aptos"/>
                <a:ea typeface="Aptos"/>
                <a:cs typeface="Aptos"/>
              </a:rPr>
              <a:t>Faces</a:t>
            </a:r>
          </a:p>
          <a:p>
            <a:pPr algn="l" marL="0" indent="0" lvl="0"/>
            <a:r>
              <a:rPr lang="en-US" sz="1700">
                <a:solidFill>
                  <a:srgbClr val="1F2937"/>
                </a:solidFill>
                <a:latin typeface="Aptos"/>
                <a:ea typeface="Aptos"/>
                <a:cs typeface="Aptos"/>
              </a:rPr>
              <a:t>• The sum of the areas of all external faces of a 3D solid.</a:t>
            </a:r>
          </a:p>
          <a:p>
            <a:pPr algn="l" marL="0" indent="0" lvl="0"/>
            <a:r>
              <a:rPr lang="en-US" sz="1700">
                <a:solidFill>
                  <a:srgbClr val="1F2937"/>
                </a:solidFill>
                <a:latin typeface="Aptos"/>
                <a:ea typeface="Aptos"/>
                <a:cs typeface="Aptos"/>
              </a:rPr>
              <a:t>• It represents the total amount of material needed to cover the entire object. For cubes, it is $6s^2$. For cuboids, it accounts for top, bottom, front, back, left, and right sid...</a:t>
            </a:r>
          </a:p>
          <a:p>
            <a:pPr algn="l" marL="0" indent="0" lvl="0"/>
            <a:r>
              <a:rPr lang="en-US" sz="1700">
                <a:solidFill>
                  <a:srgbClr val="1F2937"/>
                </a:solidFill>
                <a:latin typeface="Aptos"/>
                <a:ea typeface="Aptos"/>
                <a:cs typeface="Aptos"/>
              </a:rPr>
              <a:t>• Total Surface Area</a:t>
            </a:r>
          </a:p>
          <a:p>
            <a:pPr algn="l" marL="0" indent="0" lvl="0"/>
            <a:r>
              <a:rPr lang="en-US" sz="1700">
                <a:solidFill>
                  <a:srgbClr val="1F2937"/>
                </a:solidFill>
                <a:latin typeface="Aptos"/>
                <a:ea typeface="Aptos"/>
                <a:cs typeface="Aptos"/>
              </a:rPr>
              <a:t>• Faces</a:t>
            </a:r>
          </a:p>
          <a:p>
            <a:pPr algn="l" marL="0" indent="0" lvl="0"/>
            <a:r>
              <a:rPr lang="en-US" sz="1700">
                <a:solidFill>
                  <a:srgbClr val="1F2937"/>
                </a:solidFill>
                <a:latin typeface="Aptos"/>
                <a:ea typeface="Aptos"/>
                <a:cs typeface="Aptos"/>
              </a:rPr>
              <a:t>• Coverage</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Grasp the first major idea of the lesson.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795528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Lateral/Curved Surface Area (LSA/CSA)</a:t>
            </a:r>
          </a:p>
        </p:txBody>
      </p:sp>
      <p:sp>
        <p:nvSpPr>
          <p:cNvPr id="4" name="TextBox 4"/>
          <p:cNvSpPr txBox="true"/>
          <p:nvPr/>
        </p:nvSpPr>
        <p:spPr>
          <a:xfrm>
            <a:off x="868680" y="1444752"/>
            <a:ext cx="795528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Core Concept B / Visual Explanation</a:t>
            </a:r>
          </a:p>
        </p:txBody>
      </p:sp>
      <p:sp>
        <p:nvSpPr>
          <p:cNvPr id="5" name="TextBox 5"/>
          <p:cNvSpPr txBox="true"/>
          <p:nvPr/>
        </p:nvSpPr>
        <p:spPr>
          <a:xfrm>
            <a:off x="868680" y="2048256"/>
            <a:ext cx="795528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Lateral</a:t>
            </a:r>
          </a:p>
          <a:p>
            <a:pPr algn="l" marL="0" indent="0" lvl="0"/>
            <a:r>
              <a:rPr lang="en-US" sz="1700">
                <a:solidFill>
                  <a:srgbClr val="1F2937"/>
                </a:solidFill>
                <a:latin typeface="Aptos"/>
                <a:ea typeface="Aptos"/>
                <a:cs typeface="Aptos"/>
              </a:rPr>
              <a:t>Side Walls</a:t>
            </a:r>
          </a:p>
          <a:p>
            <a:pPr algn="l" marL="0" indent="0" lvl="0"/>
            <a:r>
              <a:rPr lang="en-US" sz="1700">
                <a:solidFill>
                  <a:srgbClr val="1F2937"/>
                </a:solidFill>
                <a:latin typeface="Aptos"/>
                <a:ea typeface="Aptos"/>
                <a:cs typeface="Aptos"/>
              </a:rPr>
              <a:t>Excluding Bases</a:t>
            </a:r>
          </a:p>
          <a:p>
            <a:pPr algn="l" marL="0" indent="0" lvl="0"/>
            <a:r>
              <a:rPr lang="en-US" sz="1700">
                <a:solidFill>
                  <a:srgbClr val="1F2937"/>
                </a:solidFill>
                <a:latin typeface="Aptos"/>
                <a:ea typeface="Aptos"/>
                <a:cs typeface="Aptos"/>
              </a:rPr>
              <a:t>• The area of the faces excluding the top and bottom bases.</a:t>
            </a:r>
          </a:p>
          <a:p>
            <a:pPr algn="l" marL="0" indent="0" lvl="0"/>
            <a:r>
              <a:rPr lang="en-US" sz="1700">
                <a:solidFill>
                  <a:srgbClr val="1F2937"/>
                </a:solidFill>
                <a:latin typeface="Aptos"/>
                <a:ea typeface="Aptos"/>
                <a:cs typeface="Aptos"/>
              </a:rPr>
              <a:t>• For a cuboid, this is the sum of the areas of the four vertical walls. Formula: $2h(l+b)$. For a cube, it is $4s^2$ (excluding top/bottom).</a:t>
            </a:r>
          </a:p>
          <a:p>
            <a:pPr algn="l" marL="0" indent="0" lvl="0"/>
            <a:r>
              <a:rPr lang="en-US" sz="1700">
                <a:solidFill>
                  <a:srgbClr val="1F2937"/>
                </a:solidFill>
                <a:latin typeface="Aptos"/>
                <a:ea typeface="Aptos"/>
                <a:cs typeface="Aptos"/>
              </a:rPr>
              <a:t>• Painting a room (excluding floor and ceiling).</a:t>
            </a:r>
          </a:p>
          <a:p>
            <a:pPr algn="l" marL="0" indent="0" lvl="0"/>
            <a:r>
              <a:rPr lang="en-US" sz="1700">
                <a:solidFill>
                  <a:srgbClr val="1F2937"/>
                </a:solidFill>
                <a:latin typeface="Aptos"/>
                <a:ea typeface="Aptos"/>
                <a:cs typeface="Aptos"/>
              </a:rPr>
              <a:t>• Labeling only the sides of a box.</a:t>
            </a:r>
          </a:p>
        </p:txBody>
      </p:sp>
      <p:sp>
        <p:nvSpPr>
          <p:cNvPr id="6" name="Visual Frame 6"/>
          <p:cNvSpPr/>
          <p:nvPr/>
        </p:nvSpPr>
        <p:spPr>
          <a:xfrm>
            <a:off x="9875520" y="1901952"/>
            <a:ext cx="7955280" cy="5577840"/>
          </a:xfrm>
          <a:prstGeom prst="roundRect">
            <a:avLst/>
          </a:prstGeom>
          <a:solidFill>
            <a:srgbClr val="FFFFFF"/>
          </a:solidFill>
          <a:ln w="12700">
            <a:solidFill>
              <a:srgbClr val="D97706"/>
            </a:solidFill>
            <a:prstDash val="solid"/>
          </a:ln>
        </p:spPr>
      </p:sp>
      <p:pic>
        <p:nvPicPr>
          <p:cNvPr id="7" name="Visual 7" descr="Teacher presentation visual"/>
          <p:cNvPicPr>
            <a:picLocks noChangeAspect="1"/>
          </p:cNvPicPr>
          <p:nvPr/>
        </p:nvPicPr>
        <p:blipFill>
          <a:blip r:embed="rId3"/>
          <a:stretch>
            <a:fillRect/>
          </a:stretch>
        </p:blipFill>
        <p:spPr>
          <a:xfrm>
            <a:off x="10354056" y="2066544"/>
            <a:ext cx="6998208" cy="5248656"/>
          </a:xfrm>
          <a:prstGeom prst="rect">
            <a:avLst/>
          </a:prstGeom>
        </p:spPr>
      </p:pic>
      <p:sp>
        <p:nvSpPr>
          <p:cNvPr id="8" name="TextBox 8"/>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See the idea in a more visual form.   •   Timing: 4 min   •   Notes: 7 cues</a:t>
            </a:r>
          </a:p>
        </p:txBody>
      </p:sp>
      <p:sp>
        <p:nvSpPr>
          <p:cNvPr id="9" name="TextBox 9"/>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7955280" cy="658368"/>
          </a:xfrm>
          <a:prstGeom prst="rect">
            <a:avLst/>
          </a:prstGeom>
          <a:noFill/>
          <a:ln w="0">
            <a:noFill/>
            <a:prstDash val="solid"/>
          </a:ln>
        </p:spPr>
        <p:txBody>
          <a:bodyPr anchor="t" rtlCol="false" tIns="0" lIns="0" bIns="0" rIns="0">
            <a:spAutoFit/>
          </a:bodyPr>
          <a:lstStyle/>
          <a:p>
            <a:pPr algn="l" marL="0" indent="0" lvl="0"/>
            <a:r>
              <a:rPr lang="en-US" sz="3000" b="1">
                <a:solidFill>
                  <a:srgbClr val="1F2937"/>
                </a:solidFill>
                <a:latin typeface="Cambria"/>
                <a:ea typeface="Cambria"/>
                <a:cs typeface="Cambria"/>
              </a:rPr>
              <a:t>Finding Volume and TSA of a Cylinder</a:t>
            </a:r>
          </a:p>
        </p:txBody>
      </p:sp>
      <p:sp>
        <p:nvSpPr>
          <p:cNvPr id="4" name="TextBox 4"/>
          <p:cNvSpPr txBox="true"/>
          <p:nvPr/>
        </p:nvSpPr>
        <p:spPr>
          <a:xfrm>
            <a:off x="868680" y="1444752"/>
            <a:ext cx="795528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Worked Example / Demonstration</a:t>
            </a:r>
          </a:p>
        </p:txBody>
      </p:sp>
      <p:sp>
        <p:nvSpPr>
          <p:cNvPr id="5" name="TextBox 5"/>
          <p:cNvSpPr txBox="true"/>
          <p:nvPr/>
        </p:nvSpPr>
        <p:spPr>
          <a:xfrm>
            <a:off x="868680" y="2048256"/>
            <a:ext cx="7955280" cy="539496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900">
                <a:solidFill>
                  <a:srgbClr val="1F2937"/>
                </a:solidFill>
                <a:latin typeface="Aptos"/>
                <a:ea typeface="Aptos"/>
                <a:cs typeface="Aptos"/>
              </a:rPr>
              <a:t>Identify given values</a:t>
            </a:r>
          </a:p>
          <a:p>
            <a:pPr algn="l" marL="0" indent="0" lvl="0"/>
            <a:r>
              <a:rPr lang="en-US" sz="1900">
                <a:solidFill>
                  <a:srgbClr val="1F2937"/>
                </a:solidFill>
                <a:latin typeface="Aptos"/>
                <a:ea typeface="Aptos"/>
                <a:cs typeface="Aptos"/>
              </a:rPr>
              <a:t>Substitute into volume formula</a:t>
            </a:r>
          </a:p>
          <a:p>
            <a:pPr algn="l" marL="0" indent="0" lvl="0"/>
            <a:r>
              <a:rPr lang="en-US" sz="1900">
                <a:solidFill>
                  <a:srgbClr val="1F2937"/>
                </a:solidFill>
                <a:latin typeface="Aptos"/>
                <a:ea typeface="Aptos"/>
                <a:cs typeface="Aptos"/>
              </a:rPr>
              <a:t>Calculate TSA</a:t>
            </a:r>
          </a:p>
          <a:p>
            <a:pPr algn="l" marL="0" indent="0" lvl="0"/>
            <a:r>
              <a:rPr lang="en-US" sz="1900">
                <a:solidFill>
                  <a:srgbClr val="1F2937"/>
                </a:solidFill>
                <a:latin typeface="Aptos"/>
                <a:ea typeface="Aptos"/>
                <a:cs typeface="Aptos"/>
              </a:rPr>
              <a:t>• Identify given values</a:t>
            </a:r>
          </a:p>
          <a:p>
            <a:pPr algn="l" marL="0" indent="0" lvl="0"/>
            <a:r>
              <a:rPr lang="en-US" sz="1900">
                <a:solidFill>
                  <a:srgbClr val="1F2937"/>
                </a:solidFill>
                <a:latin typeface="Aptos"/>
                <a:ea typeface="Aptos"/>
                <a:cs typeface="Aptos"/>
              </a:rPr>
              <a:t>• Substitute into volume formula</a:t>
            </a:r>
          </a:p>
          <a:p>
            <a:pPr algn="l" marL="0" indent="0" lvl="0"/>
            <a:r>
              <a:rPr lang="en-US" sz="1900">
                <a:solidFill>
                  <a:srgbClr val="1F2937"/>
                </a:solidFill>
                <a:latin typeface="Aptos"/>
                <a:ea typeface="Aptos"/>
                <a:cs typeface="Aptos"/>
              </a:rPr>
              <a:t>• Calculate TSA</a:t>
            </a:r>
          </a:p>
        </p:txBody>
      </p:sp>
      <p:sp>
        <p:nvSpPr>
          <p:cNvPr id="6" name="Visual Frame 6"/>
          <p:cNvSpPr/>
          <p:nvPr/>
        </p:nvSpPr>
        <p:spPr>
          <a:xfrm>
            <a:off x="9875520" y="1901952"/>
            <a:ext cx="7955280" cy="5577840"/>
          </a:xfrm>
          <a:prstGeom prst="roundRect">
            <a:avLst/>
          </a:prstGeom>
          <a:solidFill>
            <a:srgbClr val="FFFFFF"/>
          </a:solidFill>
          <a:ln w="12700">
            <a:solidFill>
              <a:srgbClr val="D97706"/>
            </a:solidFill>
            <a:prstDash val="solid"/>
          </a:ln>
        </p:spPr>
      </p:sp>
      <p:pic>
        <p:nvPicPr>
          <p:cNvPr id="7" name="Visual 7" descr="Teacher presentation visual"/>
          <p:cNvPicPr>
            <a:picLocks noChangeAspect="1"/>
          </p:cNvPicPr>
          <p:nvPr/>
        </p:nvPicPr>
        <p:blipFill>
          <a:blip r:embed="rId3"/>
          <a:stretch>
            <a:fillRect/>
          </a:stretch>
        </p:blipFill>
        <p:spPr>
          <a:xfrm>
            <a:off x="10354056" y="2066544"/>
            <a:ext cx="6998208" cy="5248656"/>
          </a:xfrm>
          <a:prstGeom prst="rect">
            <a:avLst/>
          </a:prstGeom>
        </p:spPr>
      </p:pic>
      <p:sp>
        <p:nvSpPr>
          <p:cNvPr id="8" name="TextBox 8"/>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See how the concept is applied.   •   Timing: 4 min   •   Notes: 7 cues</a:t>
            </a:r>
          </a:p>
        </p:txBody>
      </p:sp>
      <p:sp>
        <p:nvSpPr>
          <p:cNvPr id="9" name="TextBox 9"/>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Guided Practice</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Guided Practice / Activity</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The Box Unfolding Challenge</a:t>
            </a:r>
          </a:p>
          <a:p>
            <a:pPr algn="l" marL="0" indent="0" lvl="0"/>
            <a:r>
              <a:rPr lang="en-US" sz="1700">
                <a:solidFill>
                  <a:srgbClr val="1F2937"/>
                </a:solidFill>
                <a:latin typeface="Aptos"/>
                <a:ea typeface="Aptos"/>
                <a:cs typeface="Aptos"/>
              </a:rPr>
              <a:t>Distribute paper nets of cubes and cuboids to students.</a:t>
            </a:r>
          </a:p>
          <a:p>
            <a:pPr algn="l" marL="0" indent="0" lvl="0"/>
            <a:r>
              <a:rPr lang="en-US" sz="1700">
                <a:solidFill>
                  <a:srgbClr val="1F2937"/>
                </a:solidFill>
                <a:latin typeface="Aptos"/>
                <a:ea typeface="Aptos"/>
                <a:cs typeface="Aptos"/>
              </a:rPr>
              <a:t>Ask students to color the 'Top' face red, 'Bottom' blue, and all side walls green.</a:t>
            </a:r>
          </a:p>
          <a:p>
            <a:pPr algn="l" marL="0" indent="0" lvl="0"/>
            <a:r>
              <a:rPr lang="en-US" sz="1700">
                <a:solidFill>
                  <a:srgbClr val="1F2937"/>
                </a:solidFill>
                <a:latin typeface="Aptos"/>
                <a:ea typeface="Aptos"/>
                <a:cs typeface="Aptos"/>
              </a:rPr>
              <a:t>• The Box Unfolding Challenge</a:t>
            </a:r>
          </a:p>
          <a:p>
            <a:pPr algn="l" marL="0" indent="0" lvl="0"/>
            <a:r>
              <a:rPr lang="en-US" sz="1700">
                <a:solidFill>
                  <a:srgbClr val="1F2937"/>
                </a:solidFill>
                <a:latin typeface="Aptos"/>
                <a:ea typeface="Aptos"/>
                <a:cs typeface="Aptos"/>
              </a:rPr>
              <a:t>• Distribute paper nets of cubes and cuboids to students.</a:t>
            </a:r>
          </a:p>
          <a:p>
            <a:pPr algn="l" marL="0" indent="0" lvl="0"/>
            <a:r>
              <a:rPr lang="en-US" sz="1700">
                <a:solidFill>
                  <a:srgbClr val="1F2937"/>
                </a:solidFill>
                <a:latin typeface="Aptos"/>
                <a:ea typeface="Aptos"/>
                <a:cs typeface="Aptos"/>
              </a:rPr>
              <a:t>• Ask students to color the 'Top' face red, 'Bottom' blue, and all side walls green.</a:t>
            </a:r>
          </a:p>
          <a:p>
            <a:pPr algn="l" marL="0" indent="0" lvl="0"/>
            <a:r>
              <a:rPr lang="en-US" sz="1700">
                <a:solidFill>
                  <a:srgbClr val="1F2937"/>
                </a:solidFill>
                <a:latin typeface="Aptos"/>
                <a:ea typeface="Aptos"/>
                <a:cs typeface="Aptos"/>
              </a:rPr>
              <a:t>• Students calculate the area of each colored section using given dimensions (e.g., s=5cm).</a:t>
            </a:r>
          </a:p>
          <a:p>
            <a:pPr algn="l" marL="0" indent="0" lvl="0"/>
            <a:r>
              <a:rPr lang="en-US" sz="1700">
                <a:solidFill>
                  <a:srgbClr val="1F2937"/>
                </a:solidFill>
                <a:latin typeface="Aptos"/>
                <a:ea typeface="Aptos"/>
                <a:cs typeface="Aptos"/>
              </a:rPr>
              <a:t>• Group discussion: Sum the areas for TSA. Then sum only the green faces for LSA.</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Try the skill with guidance.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3000" b="1">
                <a:solidFill>
                  <a:srgbClr val="1F2937"/>
                </a:solidFill>
                <a:latin typeface="Cambria"/>
                <a:ea typeface="Cambria"/>
                <a:cs typeface="Cambria"/>
              </a:rPr>
              <a:t>Quick Check</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Formative Check / Quick Assessment</a:t>
            </a:r>
          </a:p>
        </p:txBody>
      </p:sp>
      <p:sp>
        <p:nvSpPr>
          <p:cNvPr id="5" name="TextBox 5"/>
          <p:cNvSpPr txBox="true"/>
          <p:nvPr/>
        </p:nvSpPr>
        <p:spPr>
          <a:xfrm>
            <a:off x="868680" y="2048256"/>
            <a:ext cx="16230600" cy="539496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900">
                <a:solidFill>
                  <a:srgbClr val="1F2937"/>
                </a:solidFill>
                <a:latin typeface="Aptos"/>
                <a:ea typeface="Aptos"/>
                <a:cs typeface="Aptos"/>
              </a:rPr>
              <a:t>Calculate the cost of painting the four walls of a hall with dimensions 20m x 15m and height 8m at Rs. 10 per sq.m.</a:t>
            </a:r>
          </a:p>
          <a:p>
            <a:pPr algn="l" marL="0" indent="0" lvl="0"/>
            <a:r>
              <a:rPr lang="en-US" sz="1900">
                <a:solidFill>
                  <a:srgbClr val="1F2937"/>
                </a:solidFill>
                <a:latin typeface="Aptos"/>
                <a:ea typeface="Aptos"/>
                <a:cs typeface="Aptos"/>
              </a:rPr>
              <a:t>• Calculate the cost of painting the four walls of a hall with dimensions 20m x 15m and height 8m at Rs. 10 per sq.m.</a:t>
            </a:r>
          </a:p>
        </p:txBody>
      </p:sp>
      <p:sp>
        <p:nvSpPr>
          <p:cNvPr id="6" name="TextBox 6"/>
          <p:cNvSpPr txBox="true"/>
          <p:nvPr/>
        </p:nvSpPr>
        <p:spPr>
          <a:xfrm>
            <a:off x="17830800" y="1901952"/>
            <a:ext cx="0" cy="480060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Reflect on what they can already answer.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2800" b="1">
                <a:solidFill>
                  <a:srgbClr val="1F2937"/>
                </a:solidFill>
                <a:latin typeface="Cambria"/>
                <a:ea typeface="Cambria"/>
                <a:cs typeface="Cambria"/>
              </a:rPr>
              <a:t>Key Takeaways</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Recap / Key Takeaways</a:t>
            </a:r>
          </a:p>
        </p:txBody>
      </p:sp>
      <p:sp>
        <p:nvSpPr>
          <p:cNvPr id="5" name="TextBox 5"/>
          <p:cNvSpPr txBox="true"/>
          <p:nvPr/>
        </p:nvSpPr>
        <p:spPr>
          <a:xfrm>
            <a:off x="868680" y="2048256"/>
            <a:ext cx="16230600" cy="571500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700">
                <a:solidFill>
                  <a:srgbClr val="1F2937"/>
                </a:solidFill>
                <a:latin typeface="Aptos"/>
                <a:ea typeface="Aptos"/>
                <a:cs typeface="Aptos"/>
              </a:rPr>
              <a:t>We learned that Surface Area is the total area of all faces. We derived specific formulas for Cubes ($6s^2$) and Cuboids ($2(lb+bh+hl)$).</a:t>
            </a:r>
          </a:p>
          <a:p>
            <a:pPr algn="l" marL="0" indent="0" lvl="0"/>
            <a:r>
              <a:rPr lang="en-US" sz="1700">
                <a:solidFill>
                  <a:srgbClr val="1F2937"/>
                </a:solidFill>
                <a:latin typeface="Aptos"/>
                <a:ea typeface="Aptos"/>
                <a:cs typeface="Aptos"/>
              </a:rPr>
              <a:t>Distinguishing between TSA (all sides) and LSA (side walls only) is critical.</a:t>
            </a:r>
          </a:p>
          <a:p>
            <a:pPr algn="l" marL="0" indent="0" lvl="0"/>
            <a:r>
              <a:rPr lang="en-US" sz="1700">
                <a:solidFill>
                  <a:srgbClr val="1F2937"/>
                </a:solidFill>
                <a:latin typeface="Aptos"/>
                <a:ea typeface="Aptos"/>
                <a:cs typeface="Aptos"/>
              </a:rPr>
              <a:t>• We learned that Surface Area is the total area of all faces. We derived specific formulas for Cubes ($6s^2$) and Cuboids ($2(lb+bh+hl)$).</a:t>
            </a:r>
          </a:p>
          <a:p>
            <a:pPr algn="l" marL="0" indent="0" lvl="0"/>
            <a:r>
              <a:rPr lang="en-US" sz="1700">
                <a:solidFill>
                  <a:srgbClr val="1F2937"/>
                </a:solidFill>
                <a:latin typeface="Aptos"/>
                <a:ea typeface="Aptos"/>
                <a:cs typeface="Aptos"/>
              </a:rPr>
              <a:t>• Distinguishing between TSA (all sides) and LSA (side walls only) is critical.</a:t>
            </a:r>
          </a:p>
        </p:txBody>
      </p:sp>
      <p:sp>
        <p:nvSpPr>
          <p:cNvPr id="6" name="TextBox 6"/>
          <p:cNvSpPr txBox="true"/>
          <p:nvPr/>
        </p:nvSpPr>
        <p:spPr>
          <a:xfrm>
            <a:off x="17830800" y="1901952"/>
            <a:ext cx="0" cy="429768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Leave with the main ideas remembered.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 name="Shape 1"/>
          <p:cNvSpPr/>
          <p:nvPr/>
        </p:nvSpPr>
        <p:spPr>
          <a:xfrm>
            <a:off x="0" y="0"/>
            <a:ext cx="18288000" cy="10287000"/>
          </a:xfrm>
          <a:prstGeom prst="rect">
            <a:avLst/>
          </a:prstGeom>
          <a:solidFill>
            <a:srgbClr val="F7FAFC"/>
          </a:solidFill>
          <a:ln w="0">
            <a:noFill/>
          </a:ln>
        </p:spPr>
      </p:sp>
      <p:sp>
        <p:nvSpPr>
          <p:cNvPr id="2" name="Shape 2"/>
          <p:cNvSpPr/>
          <p:nvPr/>
        </p:nvSpPr>
        <p:spPr>
          <a:xfrm>
            <a:off x="0" y="0"/>
            <a:ext cx="18288000" cy="384048"/>
          </a:xfrm>
          <a:prstGeom prst="rect">
            <a:avLst/>
          </a:prstGeom>
          <a:solidFill>
            <a:srgbClr val="1D4E89"/>
          </a:solidFill>
          <a:ln w="0">
            <a:noFill/>
          </a:ln>
        </p:spPr>
      </p:sp>
      <p:sp>
        <p:nvSpPr>
          <p:cNvPr id="3" name="TextBox 3"/>
          <p:cNvSpPr txBox="true"/>
          <p:nvPr/>
        </p:nvSpPr>
        <p:spPr>
          <a:xfrm>
            <a:off x="868680" y="713232"/>
            <a:ext cx="8961120" cy="658368"/>
          </a:xfrm>
          <a:prstGeom prst="rect">
            <a:avLst/>
          </a:prstGeom>
          <a:noFill/>
          <a:ln w="0">
            <a:noFill/>
            <a:prstDash val="solid"/>
          </a:ln>
        </p:spPr>
        <p:txBody>
          <a:bodyPr anchor="t" rtlCol="false" tIns="0" lIns="0" bIns="0" rIns="0">
            <a:spAutoFit/>
          </a:bodyPr>
          <a:lstStyle/>
          <a:p>
            <a:pPr algn="l" marL="0" indent="0" lvl="0"/>
            <a:r>
              <a:rPr lang="en-US" sz="3000" b="1">
                <a:solidFill>
                  <a:srgbClr val="1F2937"/>
                </a:solidFill>
                <a:latin typeface="Cambria"/>
                <a:ea typeface="Cambria"/>
                <a:cs typeface="Cambria"/>
              </a:rPr>
              <a:t>Homework and Next Step</a:t>
            </a:r>
          </a:p>
        </p:txBody>
      </p:sp>
      <p:sp>
        <p:nvSpPr>
          <p:cNvPr id="4" name="TextBox 4"/>
          <p:cNvSpPr txBox="true"/>
          <p:nvPr/>
        </p:nvSpPr>
        <p:spPr>
          <a:xfrm>
            <a:off x="868680" y="1444752"/>
            <a:ext cx="8961120" cy="384048"/>
          </a:xfrm>
          <a:prstGeom prst="rect">
            <a:avLst/>
          </a:prstGeom>
          <a:noFill/>
          <a:ln w="0">
            <a:noFill/>
            <a:prstDash val="solid"/>
          </a:ln>
        </p:spPr>
        <p:txBody>
          <a:bodyPr anchor="t" rtlCol="false" tIns="0" lIns="0" bIns="0" rIns="0">
            <a:spAutoFit/>
          </a:bodyPr>
          <a:lstStyle/>
          <a:p>
            <a:pPr algn="l" marL="0" indent="0" lvl="0"/>
            <a:r>
              <a:rPr lang="en-US" sz="1200">
                <a:solidFill>
                  <a:srgbClr val="6B7280"/>
                </a:solidFill>
                <a:latin typeface="Aptos"/>
                <a:ea typeface="Aptos"/>
                <a:cs typeface="Aptos"/>
              </a:rPr>
              <a:t>Surface Areas and Volumes (3-D Shapes)  •  Homework / Next Class Bridge</a:t>
            </a:r>
          </a:p>
        </p:txBody>
      </p:sp>
      <p:sp>
        <p:nvSpPr>
          <p:cNvPr id="5" name="TextBox 5"/>
          <p:cNvSpPr txBox="true"/>
          <p:nvPr/>
        </p:nvSpPr>
        <p:spPr>
          <a:xfrm>
            <a:off x="868680" y="2048256"/>
            <a:ext cx="16230600" cy="4983480"/>
          </a:xfrm>
          <a:prstGeom prst="roundRect">
            <a:avLst/>
          </a:prstGeom>
          <a:solidFill>
            <a:srgbClr val="FFFFFF"/>
          </a:solidFill>
          <a:ln w="12700">
            <a:solidFill>
              <a:srgbClr val="1D4E89"/>
            </a:solidFill>
            <a:prstDash val="solid"/>
          </a:ln>
        </p:spPr>
        <p:txBody>
          <a:bodyPr anchor="t" rtlCol="false" tIns="160000" lIns="160000" bIns="160000" rIns="160000">
            <a:spAutoFit/>
          </a:bodyPr>
          <a:lstStyle/>
          <a:p>
            <a:pPr algn="l" marL="0" indent="0" lvl="0"/>
            <a:r>
              <a:rPr lang="en-US" sz="1900">
                <a:solidFill>
                  <a:srgbClr val="1F2937"/>
                </a:solidFill>
                <a:latin typeface="Aptos"/>
                <a:ea typeface="Aptos"/>
                <a:cs typeface="Aptos"/>
              </a:rPr>
              <a:t>Next session, we will apply these concepts to cylinders, cones, and spheres.</a:t>
            </a:r>
          </a:p>
          <a:p>
            <a:pPr algn="l" marL="0" indent="0" lvl="0"/>
            <a:r>
              <a:rPr lang="en-US" sz="1900">
                <a:solidFill>
                  <a:srgbClr val="1F2937"/>
                </a:solidFill>
                <a:latin typeface="Aptos"/>
                <a:ea typeface="Aptos"/>
                <a:cs typeface="Aptos"/>
              </a:rPr>
              <a:t>• Next session, we will apply these concepts to cylinders, cones, and spheres.</a:t>
            </a:r>
          </a:p>
        </p:txBody>
      </p:sp>
      <p:sp>
        <p:nvSpPr>
          <p:cNvPr id="6" name="TextBox 6"/>
          <p:cNvSpPr txBox="true"/>
          <p:nvPr/>
        </p:nvSpPr>
        <p:spPr>
          <a:xfrm>
            <a:off x="17830800" y="1901952"/>
            <a:ext cx="0" cy="4800600"/>
          </a:xfrm>
          <a:prstGeom prst="roundRect">
            <a:avLst/>
          </a:prstGeom>
          <a:solidFill>
            <a:srgbClr val="FFFFFF"/>
          </a:solidFill>
          <a:ln w="12700">
            <a:solidFill>
              <a:srgbClr val="D97706"/>
            </a:solidFill>
            <a:prstDash val="solid"/>
          </a:ln>
        </p:spPr>
        <p:txBody>
          <a:bodyPr anchor="t" rtlCol="false" tIns="160000" lIns="160000" bIns="160000" rIns="160000">
            <a:spAutoFit/>
          </a:bodyPr>
          <a:lstStyle/>
          <a:p>
            <a:pPr algn="l" marL="0" indent="0" lvl="0"/>
            <a:r>
              <a:rPr lang="en-US" sz="1700">
                <a:solidFill>
                  <a:srgbClr val="6B7280"/>
                </a:solidFill>
                <a:latin typeface="Aptos"/>
                <a:ea typeface="Aptos"/>
                <a:cs typeface="Aptos"/>
              </a:rPr>
              <a:t>Planned visual</a:t>
            </a:r>
          </a:p>
          <a:p>
            <a:pPr algn="l" marL="0" indent="0" lvl="0"/>
            <a:r>
              <a:rPr lang="en-US" sz="1700">
                <a:solidFill>
                  <a:srgbClr val="6B7280"/>
                </a:solidFill>
                <a:latin typeface="Aptos"/>
                <a:ea typeface="Aptos"/>
                <a:cs typeface="Aptos"/>
              </a:rPr>
              <a:t>Teacher-selected visual support will appear here in export.</a:t>
            </a:r>
          </a:p>
        </p:txBody>
      </p:sp>
      <p:sp>
        <p:nvSpPr>
          <p:cNvPr id="7" name="TextBox 7"/>
          <p:cNvSpPr txBox="true"/>
          <p:nvPr/>
        </p:nvSpPr>
        <p:spPr>
          <a:xfrm>
            <a:off x="868680" y="8339328"/>
            <a:ext cx="16276320" cy="438912"/>
          </a:xfrm>
          <a:prstGeom prst="rect">
            <a:avLst/>
          </a:prstGeom>
          <a:noFill/>
          <a:ln w="0">
            <a:noFill/>
            <a:prstDash val="solid"/>
          </a:ln>
        </p:spPr>
        <p:txBody>
          <a:bodyPr anchor="t" rtlCol="false" tIns="0" lIns="0" bIns="0" rIns="0">
            <a:spAutoFit/>
          </a:bodyPr>
          <a:lstStyle/>
          <a:p>
            <a:pPr algn="l" marL="0" indent="0" lvl="0"/>
            <a:r>
              <a:rPr lang="en-US" sz="1100">
                <a:solidFill>
                  <a:srgbClr val="6B7280"/>
                </a:solidFill>
                <a:latin typeface="Aptos"/>
                <a:ea typeface="Aptos"/>
                <a:cs typeface="Aptos"/>
              </a:rPr>
              <a:t>Takeaway: Know the next task and how today connects forward.   •   Timing: 4 min   •   Notes: 7 cues</a:t>
            </a:r>
          </a:p>
        </p:txBody>
      </p:sp>
      <p:sp>
        <p:nvSpPr>
          <p:cNvPr id="8" name="TextBox 8"/>
          <p:cNvSpPr txBox="true"/>
          <p:nvPr/>
        </p:nvSpPr>
        <p:spPr>
          <a:xfrm>
            <a:off x="16779240" y="502920"/>
            <a:ext cx="640080" cy="310896"/>
          </a:xfrm>
          <a:prstGeom prst="rect">
            <a:avLst/>
          </a:prstGeom>
          <a:noFill/>
          <a:ln w="0">
            <a:noFill/>
            <a:prstDash val="solid"/>
          </a:ln>
        </p:spPr>
        <p:txBody>
          <a:bodyPr anchor="t" rtlCol="false" tIns="0" lIns="0" bIns="0" rIns="0">
            <a:spAutoFit/>
          </a:bodyPr>
          <a:lstStyle/>
          <a:p>
            <a:pPr algn="r" marL="0" indent="0" lvl="0"/>
            <a:r>
              <a:rPr lang="en-US" sz="1100" b="1">
                <a:solidFill>
                  <a:srgbClr val="1D4E89"/>
                </a:solidFill>
                <a:latin typeface="Aptos"/>
                <a:ea typeface="Aptos"/>
                <a:cs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Surface Areas and Volumes (3-D Shapes)</dc:title>
  <dc:creator>Lesson Plan Generator</dc:creator>
  <cp:lastModifiedBy>Lesson Plan Generator</cp:lastModifiedBy>
  <dcterms:created xsi:type="dcterms:W3CDTF">2026-07-21T05:39:26.763Z</dcterms:created>
  <dcterms:modified xsi:type="dcterms:W3CDTF">2026-07-21T05:39:26.763Z</dcterms:modified>
</cp:coreProperties>
</file>