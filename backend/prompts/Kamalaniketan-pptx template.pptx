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layfair Display" charset="1" panose="00000000000000000000"/>
      <p:regular r:id="rId18"/>
    </p:embeddedFont>
    <p:embeddedFont>
      <p:font typeface="Playfair Display Bold" charset="1" panose="00000000000000000000"/>
      <p:regular r:id="rId19"/>
    </p:embeddedFont>
    <p:embeddedFont>
      <p:font typeface="Open Sauc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94642" y="5799574"/>
            <a:ext cx="10014695" cy="8436363"/>
            <a:chOff x="0" y="0"/>
            <a:chExt cx="1504700" cy="12675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4700" cy="1267557"/>
            </a:xfrm>
            <a:custGeom>
              <a:avLst/>
              <a:gdLst/>
              <a:ahLst/>
              <a:cxnLst/>
              <a:rect r="r" b="b" t="t" l="l"/>
              <a:pathLst>
                <a:path h="1267557" w="1504700">
                  <a:moveTo>
                    <a:pt x="752350" y="0"/>
                  </a:moveTo>
                  <a:cubicBezTo>
                    <a:pt x="336839" y="0"/>
                    <a:pt x="0" y="283752"/>
                    <a:pt x="0" y="633779"/>
                  </a:cubicBezTo>
                  <a:cubicBezTo>
                    <a:pt x="0" y="983805"/>
                    <a:pt x="336839" y="1267557"/>
                    <a:pt x="752350" y="1267557"/>
                  </a:cubicBezTo>
                  <a:cubicBezTo>
                    <a:pt x="1167862" y="1267557"/>
                    <a:pt x="1504700" y="983805"/>
                    <a:pt x="1504700" y="633779"/>
                  </a:cubicBezTo>
                  <a:cubicBezTo>
                    <a:pt x="1504700" y="283752"/>
                    <a:pt x="1167862" y="0"/>
                    <a:pt x="7523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7B595">
                    <a:alpha val="0"/>
                  </a:srgbClr>
                </a:gs>
                <a:gs pos="100000">
                  <a:srgbClr val="C7B595">
                    <a:alpha val="6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41066" y="71208"/>
              <a:ext cx="1222569" cy="1077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70595" y="-465255"/>
            <a:ext cx="6539863" cy="12036174"/>
            <a:chOff x="0" y="0"/>
            <a:chExt cx="1722433" cy="31700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2433" cy="3170021"/>
            </a:xfrm>
            <a:custGeom>
              <a:avLst/>
              <a:gdLst/>
              <a:ahLst/>
              <a:cxnLst/>
              <a:rect r="r" b="b" t="t" l="l"/>
              <a:pathLst>
                <a:path h="3170021" w="1722433">
                  <a:moveTo>
                    <a:pt x="0" y="0"/>
                  </a:moveTo>
                  <a:lnTo>
                    <a:pt x="1722433" y="0"/>
                  </a:lnTo>
                  <a:lnTo>
                    <a:pt x="1722433" y="3170021"/>
                  </a:lnTo>
                  <a:lnTo>
                    <a:pt x="0" y="3170021"/>
                  </a:lnTo>
                  <a:close/>
                </a:path>
              </a:pathLst>
            </a:custGeom>
            <a:solidFill>
              <a:srgbClr val="8F5D46">
                <a:alpha val="7294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22433" cy="321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69268" y="321238"/>
            <a:ext cx="1646069" cy="1653451"/>
          </a:xfrm>
          <a:custGeom>
            <a:avLst/>
            <a:gdLst/>
            <a:ahLst/>
            <a:cxnLst/>
            <a:rect r="r" b="b" t="t" l="l"/>
            <a:pathLst>
              <a:path h="1653451" w="1646069">
                <a:moveTo>
                  <a:pt x="0" y="0"/>
                </a:moveTo>
                <a:lnTo>
                  <a:pt x="1646070" y="0"/>
                </a:lnTo>
                <a:lnTo>
                  <a:pt x="1646070" y="1653451"/>
                </a:lnTo>
                <a:lnTo>
                  <a:pt x="0" y="1653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83230" y="464113"/>
            <a:ext cx="11116547" cy="195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  <a:spcBef>
                <a:spcPct val="0"/>
              </a:spcBef>
            </a:pPr>
            <a:r>
              <a:rPr lang="en-US" sz="7500" spc="-30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Kamala Niketan Montessori School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94642" y="3905777"/>
            <a:ext cx="10943894" cy="208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0"/>
              </a:lnSpc>
            </a:pPr>
            <a:r>
              <a:rPr lang="en-US" sz="8080" spc="-32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Topic Name/</a:t>
            </a:r>
          </a:p>
          <a:p>
            <a:pPr algn="l" marL="0" indent="0" lvl="0">
              <a:lnSpc>
                <a:spcPts val="8080"/>
              </a:lnSpc>
              <a:spcBef>
                <a:spcPct val="0"/>
              </a:spcBef>
            </a:pPr>
            <a:r>
              <a:rPr lang="en-US" sz="8080" spc="-32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of the session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85935" y="7962166"/>
            <a:ext cx="7193033" cy="166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0"/>
              </a:lnSpc>
            </a:pPr>
          </a:p>
          <a:p>
            <a:pPr algn="l">
              <a:lnSpc>
                <a:spcPts val="2180"/>
              </a:lnSpc>
            </a:pPr>
            <a:r>
              <a:rPr lang="en-US" sz="2180" spc="-87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Subject</a:t>
            </a:r>
          </a:p>
          <a:p>
            <a:pPr algn="l">
              <a:lnSpc>
                <a:spcPts val="2180"/>
              </a:lnSpc>
            </a:pPr>
            <a:r>
              <a:rPr lang="en-US" sz="2180" spc="-87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Grade/Class</a:t>
            </a:r>
          </a:p>
          <a:p>
            <a:pPr algn="l">
              <a:lnSpc>
                <a:spcPts val="2180"/>
              </a:lnSpc>
            </a:pPr>
            <a:r>
              <a:rPr lang="en-US" sz="2180" spc="-87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Chapter</a:t>
            </a:r>
          </a:p>
          <a:p>
            <a:pPr algn="l">
              <a:lnSpc>
                <a:spcPts val="2180"/>
              </a:lnSpc>
            </a:pPr>
            <a:r>
              <a:rPr lang="en-US" sz="2180" spc="-87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Topic</a:t>
            </a:r>
          </a:p>
          <a:p>
            <a:pPr algn="l" marL="0" indent="0" lvl="0">
              <a:lnSpc>
                <a:spcPts val="2180"/>
              </a:lnSpc>
              <a:spcBef>
                <a:spcPct val="0"/>
              </a:spcBef>
            </a:pPr>
            <a:r>
              <a:rPr lang="en-US" sz="2180" spc="-87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Session Number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469796" y="716613"/>
            <a:ext cx="10796437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Learning Outcomes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9796" y="3243870"/>
            <a:ext cx="7323838" cy="417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Learning Outcome 1</a:t>
            </a:r>
          </a:p>
          <a:p>
            <a:pPr algn="ctr">
              <a:lnSpc>
                <a:spcPts val="4700"/>
              </a:lnSpc>
            </a:pPr>
          </a:p>
          <a:p>
            <a:pPr algn="ctr">
              <a:lnSpc>
                <a:spcPts val="4700"/>
              </a:lnSpc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Learning Outcome 2</a:t>
            </a:r>
          </a:p>
          <a:p>
            <a:pPr algn="ctr">
              <a:lnSpc>
                <a:spcPts val="4700"/>
              </a:lnSpc>
            </a:pPr>
          </a:p>
          <a:p>
            <a:pPr algn="ctr">
              <a:lnSpc>
                <a:spcPts val="4700"/>
              </a:lnSpc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Learning Outcome 3</a:t>
            </a:r>
          </a:p>
          <a:p>
            <a:pPr algn="ctr">
              <a:lnSpc>
                <a:spcPts val="4700"/>
              </a:lnSpc>
            </a:pPr>
          </a:p>
          <a:p>
            <a:pPr algn="ctr" marL="0" indent="0" lvl="0">
              <a:lnSpc>
                <a:spcPts val="4700"/>
              </a:lnSpc>
              <a:spcBef>
                <a:spcPct val="0"/>
              </a:spcBef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Learning Outcome 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21090" y="753750"/>
            <a:ext cx="1482555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Prerequisite Knowledge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1220" y="3336713"/>
            <a:ext cx="14825559" cy="417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Before today's lesson, students should know:</a:t>
            </a:r>
          </a:p>
          <a:p>
            <a:pPr algn="l">
              <a:lnSpc>
                <a:spcPts val="4700"/>
              </a:lnSpc>
            </a:pPr>
          </a:p>
          <a:p>
            <a:pPr algn="l">
              <a:lnSpc>
                <a:spcPts val="4700"/>
              </a:lnSpc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Concept 1</a:t>
            </a:r>
          </a:p>
          <a:p>
            <a:pPr algn="l">
              <a:lnSpc>
                <a:spcPts val="4700"/>
              </a:lnSpc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Concept 2</a:t>
            </a:r>
          </a:p>
          <a:p>
            <a:pPr algn="l">
              <a:lnSpc>
                <a:spcPts val="4700"/>
              </a:lnSpc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Concept 3</a:t>
            </a:r>
          </a:p>
          <a:p>
            <a:pPr algn="l">
              <a:lnSpc>
                <a:spcPts val="4700"/>
              </a:lnSpc>
            </a:pPr>
          </a:p>
          <a:p>
            <a:pPr algn="l" marL="0" indent="0" lvl="0">
              <a:lnSpc>
                <a:spcPts val="4700"/>
              </a:lnSpc>
              <a:spcBef>
                <a:spcPct val="0"/>
              </a:spcBef>
            </a:pPr>
            <a:r>
              <a:rPr lang="en-US" sz="4700" spc="-18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Quick Recall Question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21090" y="725175"/>
            <a:ext cx="16051088" cy="92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0"/>
              </a:lnSpc>
              <a:spcBef>
                <a:spcPct val="0"/>
              </a:spcBef>
            </a:pPr>
            <a:r>
              <a:rPr lang="en-US" sz="6900" spc="-276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Lesson Hook / Session Opening (Dynamic)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82503" y="2829999"/>
            <a:ext cx="9846632" cy="552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2085" spc="-83" b="true">
                <a:solidFill>
                  <a:srgbClr val="8F5D4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Option A — Story Hook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Interesting Story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Real-life Scenario</a:t>
            </a:r>
          </a:p>
          <a:p>
            <a:pPr algn="l">
              <a:lnSpc>
                <a:spcPts val="612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Thought-provoking Question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Today's Topic Connection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 b="true">
                <a:solidFill>
                  <a:srgbClr val="8F5D46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Option B — Previous Session Recap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Last Lesson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Concepts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Quick Recall Question</a:t>
            </a:r>
          </a:p>
          <a:p>
            <a:pPr algn="l">
              <a:lnSpc>
                <a:spcPts val="2085"/>
              </a:lnSpc>
            </a:pPr>
          </a:p>
          <a:p>
            <a:pPr algn="l">
              <a:lnSpc>
                <a:spcPts val="2085"/>
              </a:lnSpc>
            </a:pPr>
            <a:r>
              <a:rPr lang="en-US" sz="2085" spc="-83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Today's Connection</a:t>
            </a:r>
          </a:p>
          <a:p>
            <a:pPr algn="l">
              <a:lnSpc>
                <a:spcPts val="2085"/>
              </a:lnSpc>
            </a:pPr>
          </a:p>
          <a:p>
            <a:pPr algn="ctr">
              <a:lnSpc>
                <a:spcPts val="2085"/>
              </a:lnSpc>
            </a:pPr>
          </a:p>
          <a:p>
            <a:pPr algn="ctr" marL="0" indent="0" lvl="0">
              <a:lnSpc>
                <a:spcPts val="20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417325" y="621279"/>
            <a:ext cx="13453351" cy="95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59"/>
              </a:lnSpc>
              <a:spcBef>
                <a:spcPct val="0"/>
              </a:spcBef>
            </a:pPr>
            <a:r>
              <a:rPr lang="en-US" sz="7259" spc="-29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Topic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4058" y="3278998"/>
            <a:ext cx="13453351" cy="473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4159" spc="-166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Definition</a:t>
            </a:r>
          </a:p>
          <a:p>
            <a:pPr algn="l">
              <a:lnSpc>
                <a:spcPts val="4159"/>
              </a:lnSpc>
            </a:pPr>
          </a:p>
          <a:p>
            <a:pPr algn="l">
              <a:lnSpc>
                <a:spcPts val="4159"/>
              </a:lnSpc>
            </a:pPr>
            <a:r>
              <a:rPr lang="en-US" sz="4159" spc="-166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Importance</a:t>
            </a:r>
          </a:p>
          <a:p>
            <a:pPr algn="l">
              <a:lnSpc>
                <a:spcPts val="4159"/>
              </a:lnSpc>
            </a:pPr>
          </a:p>
          <a:p>
            <a:pPr algn="l">
              <a:lnSpc>
                <a:spcPts val="4159"/>
              </a:lnSpc>
            </a:pPr>
            <a:r>
              <a:rPr lang="en-US" sz="4159" spc="-166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Real-life Connection</a:t>
            </a:r>
          </a:p>
          <a:p>
            <a:pPr algn="l">
              <a:lnSpc>
                <a:spcPts val="4159"/>
              </a:lnSpc>
            </a:pPr>
          </a:p>
          <a:p>
            <a:pPr algn="l">
              <a:lnSpc>
                <a:spcPts val="4159"/>
              </a:lnSpc>
            </a:pPr>
            <a:r>
              <a:rPr lang="en-US" sz="4159" spc="-166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Terms</a:t>
            </a:r>
          </a:p>
          <a:p>
            <a:pPr algn="l">
              <a:lnSpc>
                <a:spcPts val="4159"/>
              </a:lnSpc>
            </a:pPr>
          </a:p>
          <a:p>
            <a:pPr algn="l" marL="0" indent="0" lvl="0">
              <a:lnSpc>
                <a:spcPts val="4159"/>
              </a:lnSpc>
              <a:spcBef>
                <a:spcPct val="0"/>
              </a:spcBef>
            </a:pPr>
            <a:r>
              <a:rPr lang="en-US" sz="4159" spc="-166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Learning Objective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058606" y="8862578"/>
            <a:ext cx="217078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210">
                <a:solidFill>
                  <a:srgbClr val="8F5D46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2593" y="493789"/>
            <a:ext cx="1482555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Concept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9658" y="2163360"/>
            <a:ext cx="13868684" cy="647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4"/>
              </a:lnSpc>
            </a:pPr>
            <a:r>
              <a:rPr lang="en-US" sz="3964" spc="-15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Concept Title</a:t>
            </a: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  <a:r>
              <a:rPr lang="en-US" sz="3964" spc="-15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Point</a:t>
            </a: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  <a:r>
              <a:rPr lang="en-US" sz="3964" spc="-15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Point</a:t>
            </a: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  <a:r>
              <a:rPr lang="en-US" sz="3964" spc="-15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Point</a:t>
            </a: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  <a:r>
              <a:rPr lang="en-US" sz="3964" spc="-15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Point</a:t>
            </a: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  <a:r>
              <a:rPr lang="en-US" sz="3964" spc="-15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Visual</a:t>
            </a:r>
          </a:p>
          <a:p>
            <a:pPr algn="l">
              <a:lnSpc>
                <a:spcPts val="3964"/>
              </a:lnSpc>
            </a:pPr>
          </a:p>
          <a:p>
            <a:pPr algn="l" marL="0" indent="0" lvl="0">
              <a:lnSpc>
                <a:spcPts val="3964"/>
              </a:lnSpc>
              <a:spcBef>
                <a:spcPct val="0"/>
              </a:spcBef>
            </a:pPr>
            <a:r>
              <a:rPr lang="en-US" sz="3964" spc="-15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Terms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757905" y="574675"/>
            <a:ext cx="1482555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Visual Explanation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17855" y="3083364"/>
            <a:ext cx="14825559" cy="4831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Diagram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Labels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Highlighted Parts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Caption</a:t>
            </a:r>
          </a:p>
          <a:p>
            <a:pPr algn="l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Important Notes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102593" y="493789"/>
            <a:ext cx="1482555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Worked Example / Demonstration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346" y="3615243"/>
            <a:ext cx="14825559" cy="518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 spc="-18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Example</a:t>
            </a:r>
          </a:p>
          <a:p>
            <a:pPr algn="l">
              <a:lnSpc>
                <a:spcPts val="4600"/>
              </a:lnSpc>
            </a:pPr>
          </a:p>
          <a:p>
            <a:pPr algn="l">
              <a:lnSpc>
                <a:spcPts val="4600"/>
              </a:lnSpc>
            </a:pPr>
            <a:r>
              <a:rPr lang="en-US" sz="4600" spc="-18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1</a:t>
            </a:r>
          </a:p>
          <a:p>
            <a:pPr algn="l">
              <a:lnSpc>
                <a:spcPts val="4600"/>
              </a:lnSpc>
            </a:pPr>
          </a:p>
          <a:p>
            <a:pPr algn="l">
              <a:lnSpc>
                <a:spcPts val="4600"/>
              </a:lnSpc>
            </a:pPr>
            <a:r>
              <a:rPr lang="en-US" sz="4600" spc="-18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2</a:t>
            </a:r>
          </a:p>
          <a:p>
            <a:pPr algn="l">
              <a:lnSpc>
                <a:spcPts val="4600"/>
              </a:lnSpc>
            </a:pPr>
          </a:p>
          <a:p>
            <a:pPr algn="l">
              <a:lnSpc>
                <a:spcPts val="4600"/>
              </a:lnSpc>
            </a:pPr>
            <a:r>
              <a:rPr lang="en-US" sz="4600" spc="-18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3</a:t>
            </a:r>
          </a:p>
          <a:p>
            <a:pPr algn="l">
              <a:lnSpc>
                <a:spcPts val="4600"/>
              </a:lnSpc>
            </a:pPr>
          </a:p>
          <a:p>
            <a:pPr algn="l" marL="0" indent="0" lvl="0">
              <a:lnSpc>
                <a:spcPts val="4000"/>
              </a:lnSpc>
              <a:spcBef>
                <a:spcPct val="0"/>
              </a:spcBef>
            </a:pPr>
            <a:r>
              <a:rPr lang="en-US" sz="4000" spc="-16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94366" y="2020958"/>
            <a:ext cx="1299267" cy="0"/>
          </a:xfrm>
          <a:prstGeom prst="line">
            <a:avLst/>
          </a:prstGeom>
          <a:ln cap="rnd" w="76200">
            <a:solidFill>
              <a:srgbClr val="8F5D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715357" y="568064"/>
            <a:ext cx="1482555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Guided Practice / Activity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70659" y="3290051"/>
            <a:ext cx="14825559" cy="505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14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Activity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600" spc="-14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Instructions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600" spc="-14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600" spc="-14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Hint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600" spc="-14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</a:t>
            </a:r>
          </a:p>
          <a:p>
            <a:pPr algn="l">
              <a:lnSpc>
                <a:spcPts val="3600"/>
              </a:lnSpc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600" spc="-14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Answer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25219" y="808634"/>
            <a:ext cx="1482555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Quick Assessment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6385" y="3391597"/>
            <a:ext cx="14825559" cy="452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0"/>
              </a:lnSpc>
            </a:pPr>
            <a:r>
              <a:rPr lang="en-US" sz="4100" spc="-16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Question 1</a:t>
            </a:r>
          </a:p>
          <a:p>
            <a:pPr algn="l">
              <a:lnSpc>
                <a:spcPts val="4100"/>
              </a:lnSpc>
            </a:pPr>
          </a:p>
          <a:p>
            <a:pPr algn="l">
              <a:lnSpc>
                <a:spcPts val="4100"/>
              </a:lnSpc>
            </a:pPr>
            <a:r>
              <a:rPr lang="en-US" sz="4100" spc="-16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2</a:t>
            </a:r>
          </a:p>
          <a:p>
            <a:pPr algn="l">
              <a:lnSpc>
                <a:spcPts val="4100"/>
              </a:lnSpc>
            </a:pPr>
          </a:p>
          <a:p>
            <a:pPr algn="l">
              <a:lnSpc>
                <a:spcPts val="4100"/>
              </a:lnSpc>
            </a:pPr>
            <a:r>
              <a:rPr lang="en-US" sz="4100" spc="-16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 3</a:t>
            </a:r>
          </a:p>
          <a:p>
            <a:pPr algn="l">
              <a:lnSpc>
                <a:spcPts val="4100"/>
              </a:lnSpc>
            </a:pPr>
          </a:p>
          <a:p>
            <a:pPr algn="l">
              <a:lnSpc>
                <a:spcPts val="4100"/>
              </a:lnSpc>
            </a:pPr>
            <a:r>
              <a:rPr lang="en-US" sz="4100" spc="-16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Poll</a:t>
            </a:r>
          </a:p>
          <a:p>
            <a:pPr algn="l">
              <a:lnSpc>
                <a:spcPts val="4100"/>
              </a:lnSpc>
            </a:pPr>
          </a:p>
          <a:p>
            <a:pPr algn="l" marL="0" indent="0" lvl="0">
              <a:lnSpc>
                <a:spcPts val="3100"/>
              </a:lnSpc>
              <a:spcBef>
                <a:spcPct val="0"/>
              </a:spcBef>
            </a:pPr>
            <a:r>
              <a:rPr lang="en-US" sz="3100" spc="-12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Think-Pair-Share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10709" y="771496"/>
            <a:ext cx="1482555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33741" y="3020225"/>
            <a:ext cx="14825559" cy="514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14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Today's Key Takeaways</a:t>
            </a: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  <a:r>
              <a:rPr lang="en-US" sz="3700" spc="-14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✓ Point</a:t>
            </a: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  <a:r>
              <a:rPr lang="en-US" sz="3700" spc="-14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✓ Point</a:t>
            </a: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  <a:r>
              <a:rPr lang="en-US" sz="3700" spc="-14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✓ Point</a:t>
            </a:r>
          </a:p>
          <a:p>
            <a:pPr algn="l">
              <a:lnSpc>
                <a:spcPts val="3700"/>
              </a:lnSpc>
            </a:pPr>
          </a:p>
          <a:p>
            <a:pPr algn="l">
              <a:lnSpc>
                <a:spcPts val="3700"/>
              </a:lnSpc>
            </a:pPr>
            <a:r>
              <a:rPr lang="en-US" sz="3700" spc="-14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Vocabulary</a:t>
            </a:r>
          </a:p>
          <a:p>
            <a:pPr algn="l">
              <a:lnSpc>
                <a:spcPts val="3700"/>
              </a:lnSpc>
            </a:pP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600" spc="-144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Remember This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155221" y="6724978"/>
            <a:ext cx="9661891" cy="7359383"/>
            <a:chOff x="0" y="0"/>
            <a:chExt cx="1451692" cy="11057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1692" cy="1105742"/>
            </a:xfrm>
            <a:custGeom>
              <a:avLst/>
              <a:gdLst/>
              <a:ahLst/>
              <a:cxnLst/>
              <a:rect r="r" b="b" t="t" l="l"/>
              <a:pathLst>
                <a:path h="1105742" w="1451692">
                  <a:moveTo>
                    <a:pt x="725846" y="0"/>
                  </a:moveTo>
                  <a:cubicBezTo>
                    <a:pt x="324972" y="0"/>
                    <a:pt x="0" y="247529"/>
                    <a:pt x="0" y="552871"/>
                  </a:cubicBezTo>
                  <a:cubicBezTo>
                    <a:pt x="0" y="858213"/>
                    <a:pt x="324972" y="1105742"/>
                    <a:pt x="725846" y="1105742"/>
                  </a:cubicBezTo>
                  <a:cubicBezTo>
                    <a:pt x="1126720" y="1105742"/>
                    <a:pt x="1451692" y="858213"/>
                    <a:pt x="1451692" y="552871"/>
                  </a:cubicBezTo>
                  <a:cubicBezTo>
                    <a:pt x="1451692" y="247529"/>
                    <a:pt x="1126720" y="0"/>
                    <a:pt x="7258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7B595">
                    <a:alpha val="0"/>
                  </a:srgbClr>
                </a:gs>
                <a:gs pos="100000">
                  <a:srgbClr val="C7B595">
                    <a:alpha val="6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36096" y="56038"/>
              <a:ext cx="1179500" cy="946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FE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0662" y="1181100"/>
            <a:ext cx="16886676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320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Thank You!/Homework &amp; Next Session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69688" y="4283985"/>
            <a:ext cx="8419386" cy="429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Next Session Preview/Next session topic names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Topic 1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4200" spc="-168">
                <a:solidFill>
                  <a:srgbClr val="8F5D4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Topic 2</a:t>
            </a:r>
          </a:p>
          <a:p>
            <a:pPr algn="l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DAHNvc3iKlk</dc:identifier>
  <dcterms:modified xsi:type="dcterms:W3CDTF">2011-08-01T06:04:30Z</dcterms:modified>
  <cp:revision>1</cp:revision>
  <dc:title>Beige and Brown Simple Minimalist Monotone Social Media Marketing Presentation</dc:title>
</cp:coreProperties>
</file>