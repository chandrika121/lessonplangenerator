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828729" y="4617720"/>
            <a:ext cx="2011680" cy="201168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148769" y="4937760"/>
            <a:ext cx="1371600" cy="1371600"/>
          </a:xfrm>
          <a:prstGeom prst="ellipse">
            <a:avLst/>
          </a:prstGeom>
          <a:solidFill>
            <a:srgbClr val="FFFFFF">
              <a:alpha val="11000"/>
            </a:srgbClr>
          </a:solidFill>
          <a:ln w="12700">
            <a:solidFill>
              <a:srgbClr val="FFFFFF">
                <a:alpha val="1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63" y="731520"/>
            <a:ext cx="1005840" cy="1005840"/>
          </a:xfrm>
          <a:prstGeom prst="ellipse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1886" y="0"/>
            <a:ext cx="36576" cy="6858000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83950" y="1188720"/>
            <a:ext cx="6604826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4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Fundamental Unit of Life: Cell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5083950" y="4773168"/>
            <a:ext cx="2377440" cy="82296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83950" y="4773168"/>
            <a:ext cx="6051636" cy="8230"/>
          </a:xfrm>
          <a:prstGeom prst="rect">
            <a:avLst/>
          </a:prstGeom>
          <a:solidFill>
            <a:srgbClr val="0A4A8F">
              <a:alpha val="30000"/>
            </a:srgbClr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83950" y="4956048"/>
            <a:ext cx="660482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20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9 Biology · chandrika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56032" y="6291072"/>
            <a:ext cx="42427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11185855" y="6464808"/>
            <a:ext cx="411480" cy="246888"/>
          </a:xfrm>
          <a:prstGeom prst="roundRect">
            <a:avLst>
              <a:gd name="adj" fmla="val 37037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231575" y="64739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94360" y="6455664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Savra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85855" y="6464808"/>
            <a:ext cx="411480" cy="246888"/>
          </a:xfrm>
          <a:prstGeom prst="roundRect">
            <a:avLst>
              <a:gd name="adj" fmla="val 37037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1575" y="64739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Savra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2296"/>
            <a:ext cx="84426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9402775" y="310896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02775" y="3108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OUTCOMES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4360" y="1097280"/>
            <a:ext cx="5364328" cy="786384"/>
          </a:xfrm>
          <a:prstGeom prst="roundRect">
            <a:avLst>
              <a:gd name="adj" fmla="val 9302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097280"/>
            <a:ext cx="50292" cy="786384"/>
          </a:xfrm>
          <a:prstGeom prst="roundRect">
            <a:avLst>
              <a:gd name="adj" fmla="val 145455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90956" y="1316736"/>
            <a:ext cx="347472" cy="347472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90956" y="1097280"/>
            <a:ext cx="3474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303020" y="1133856"/>
            <a:ext cx="44545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Define cell and describe its discovery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94360" y="1956816"/>
            <a:ext cx="5364328" cy="786384"/>
          </a:xfrm>
          <a:prstGeom prst="roundRect">
            <a:avLst>
              <a:gd name="adj" fmla="val 9302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1956816"/>
            <a:ext cx="50292" cy="786384"/>
          </a:xfrm>
          <a:prstGeom prst="roundRect">
            <a:avLst>
              <a:gd name="adj" fmla="val 145455"/>
            </a:avLst>
          </a:prstGeom>
          <a:solidFill>
            <a:srgbClr val="0A4A8F">
              <a:alpha val="80000"/>
            </a:srgbClr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0956" y="2176272"/>
            <a:ext cx="347472" cy="347472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0956" y="1956816"/>
            <a:ext cx="3474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303020" y="1993392"/>
            <a:ext cx="44545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Differentiate between prokaryotic and eukaryotic cells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94360" y="2816352"/>
            <a:ext cx="5364328" cy="786384"/>
          </a:xfrm>
          <a:prstGeom prst="roundRect">
            <a:avLst>
              <a:gd name="adj" fmla="val 9302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2816352"/>
            <a:ext cx="50292" cy="786384"/>
          </a:xfrm>
          <a:prstGeom prst="roundRect">
            <a:avLst>
              <a:gd name="adj" fmla="val 145455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0956" y="3035808"/>
            <a:ext cx="347472" cy="347472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0956" y="2816352"/>
            <a:ext cx="3474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303020" y="2852928"/>
            <a:ext cx="44545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the structures of plant and animal cells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94360" y="3675888"/>
            <a:ext cx="5364328" cy="786384"/>
          </a:xfrm>
          <a:prstGeom prst="roundRect">
            <a:avLst>
              <a:gd name="adj" fmla="val 9302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94360" y="3675888"/>
            <a:ext cx="50292" cy="786384"/>
          </a:xfrm>
          <a:prstGeom prst="roundRect">
            <a:avLst>
              <a:gd name="adj" fmla="val 145455"/>
            </a:avLst>
          </a:prstGeom>
          <a:solidFill>
            <a:srgbClr val="0A4A8F">
              <a:alpha val="80000"/>
            </a:srgbClr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90956" y="3895344"/>
            <a:ext cx="347472" cy="347472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0956" y="3675888"/>
            <a:ext cx="3474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303020" y="3712464"/>
            <a:ext cx="44545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 major cell organelles and their functions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" y="4535424"/>
            <a:ext cx="5364328" cy="786384"/>
          </a:xfrm>
          <a:prstGeom prst="roundRect">
            <a:avLst>
              <a:gd name="adj" fmla="val 9302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" y="4535424"/>
            <a:ext cx="50292" cy="786384"/>
          </a:xfrm>
          <a:prstGeom prst="roundRect">
            <a:avLst>
              <a:gd name="adj" fmla="val 145455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90956" y="4754880"/>
            <a:ext cx="347472" cy="347472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0956" y="4535424"/>
            <a:ext cx="347472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03020" y="4572000"/>
            <a:ext cx="44545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Analyse why the cell is the structural and functional unit of life (HOTS)</a:t>
            </a:r>
            <a:endParaRPr lang="en-US" sz="1100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33008" y="1097280"/>
            <a:ext cx="5364328" cy="534924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6233008" y="1097280"/>
            <a:ext cx="5364328" cy="5349240"/>
          </a:xfrm>
          <a:prstGeom prst="roundRect">
            <a:avLst>
              <a:gd name="adj" fmla="val 1538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85855" y="6464808"/>
            <a:ext cx="411480" cy="246888"/>
          </a:xfrm>
          <a:prstGeom prst="roundRect">
            <a:avLst>
              <a:gd name="adj" fmla="val 37037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1575" y="64739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Savra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"/>
            <a:ext cx="91440" cy="91440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73152"/>
            <a:ext cx="108383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80" kern="0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STORY FLOW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11002975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Journey of Cell Discovery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0" y="1252728"/>
            <a:ext cx="12191695" cy="8230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688211"/>
            <a:ext cx="960120" cy="509869"/>
          </a:xfrm>
          <a:prstGeom prst="roundRect">
            <a:avLst>
              <a:gd name="adj" fmla="val 10760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7182" y="2153092"/>
            <a:ext cx="614477" cy="254935"/>
          </a:xfrm>
          <a:prstGeom prst="roundRect">
            <a:avLst>
              <a:gd name="adj" fmla="val 28694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1688211"/>
            <a:ext cx="960120" cy="509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847088" y="1481328"/>
            <a:ext cx="9750247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Robert Hooke (1665)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847088" y="1883664"/>
            <a:ext cx="9750247" cy="7246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thin slices of cork under a primitive microscope. Noticed honeycomb-like compartments, which he called 'cells'.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2670505"/>
            <a:ext cx="11002975" cy="10973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924937"/>
            <a:ext cx="960120" cy="509869"/>
          </a:xfrm>
          <a:prstGeom prst="roundRect">
            <a:avLst>
              <a:gd name="adj" fmla="val 10760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7182" y="3389818"/>
            <a:ext cx="614477" cy="254935"/>
          </a:xfrm>
          <a:prstGeom prst="roundRect">
            <a:avLst>
              <a:gd name="adj" fmla="val 28694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2924937"/>
            <a:ext cx="960120" cy="509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847088" y="2718054"/>
            <a:ext cx="9750247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Leeuwenhoek (1674)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47088" y="3120390"/>
            <a:ext cx="9750247" cy="7246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to observe free-living cells in pond water with improved microscopes. Called them 'animalcules'.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907231"/>
            <a:ext cx="11002975" cy="10973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4161663"/>
            <a:ext cx="960120" cy="509869"/>
          </a:xfrm>
          <a:prstGeom prst="roundRect">
            <a:avLst>
              <a:gd name="adj" fmla="val 10760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67182" y="4626544"/>
            <a:ext cx="614477" cy="254935"/>
          </a:xfrm>
          <a:prstGeom prst="roundRect">
            <a:avLst>
              <a:gd name="adj" fmla="val 28694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4161663"/>
            <a:ext cx="960120" cy="509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1847088" y="3954780"/>
            <a:ext cx="9750247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Schleiden &amp; Schwann (1838-39)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847088" y="4357116"/>
            <a:ext cx="9750247" cy="7246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Proposed the Cell Theory: all plants and animals are composed of cells, and the cell is the basic unit of life.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4360" y="5143957"/>
            <a:ext cx="11002975" cy="10973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5398389"/>
            <a:ext cx="960120" cy="509869"/>
          </a:xfrm>
          <a:prstGeom prst="roundRect">
            <a:avLst>
              <a:gd name="adj" fmla="val 10760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67182" y="5863270"/>
            <a:ext cx="614477" cy="254935"/>
          </a:xfrm>
          <a:prstGeom prst="roundRect">
            <a:avLst>
              <a:gd name="adj" fmla="val 28694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4360" y="5398389"/>
            <a:ext cx="960120" cy="50986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1847088" y="5191506"/>
            <a:ext cx="9750247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Rudolf Virchow (1855)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847088" y="5593842"/>
            <a:ext cx="9750247" cy="7246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Further expanded Cell Theory: 'Omnis cellula e cellula' (all cells arise from pre-existing cells).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85855" y="6464808"/>
            <a:ext cx="411480" cy="246888"/>
          </a:xfrm>
          <a:prstGeom prst="roundRect">
            <a:avLst>
              <a:gd name="adj" fmla="val 37037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1575" y="64739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Savra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89888"/>
            <a:ext cx="5364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594360" y="2359152"/>
            <a:ext cx="2011680" cy="64008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505456"/>
            <a:ext cx="5364328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8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basic structural and functional unit of all known living organisms. It is the smallest unit of life that can replicate independently.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94360" y="4389120"/>
            <a:ext cx="5364328" cy="2057400"/>
          </a:xfrm>
          <a:prstGeom prst="roundRect">
            <a:avLst>
              <a:gd name="adj" fmla="val 4000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4517136"/>
            <a:ext cx="1828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4791456"/>
            <a:ext cx="5071720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4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single-celled Amoeba, commonly found in a pond near the Yamuna river, performs all life functions like digestion, respiration, and reproduction independently.</a:t>
            </a:r>
            <a:endParaRPr lang="en-US" sz="1400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233008" y="1389888"/>
            <a:ext cx="5364328" cy="5056632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6233008" y="1389888"/>
            <a:ext cx="5364328" cy="5056632"/>
          </a:xfrm>
          <a:prstGeom prst="roundRect">
            <a:avLst>
              <a:gd name="adj" fmla="val 1627"/>
            </a:avLst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85855" y="6464808"/>
            <a:ext cx="411480" cy="246888"/>
          </a:xfrm>
          <a:prstGeom prst="roundRect">
            <a:avLst>
              <a:gd name="adj" fmla="val 37037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1575" y="64739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Savra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384048"/>
            <a:ext cx="11002975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Core Cell Components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0" y="1252728"/>
            <a:ext cx="12191695" cy="8230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426464"/>
            <a:ext cx="5400904" cy="2391156"/>
          </a:xfrm>
          <a:prstGeom prst="roundRect">
            <a:avLst>
              <a:gd name="adj" fmla="val 3824"/>
            </a:avLst>
          </a:prstGeom>
          <a:solidFill>
            <a:srgbClr val="E5ECF5"/>
          </a:solidFill>
          <a:ln w="11430">
            <a:solidFill>
              <a:srgbClr val="0A4A8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426464"/>
            <a:ext cx="5400904" cy="548640"/>
          </a:xfrm>
          <a:prstGeom prst="roundRect">
            <a:avLst>
              <a:gd name="adj" fmla="val 16667"/>
            </a:avLst>
          </a:prstGeom>
          <a:solidFill>
            <a:srgbClr val="0A4A8F">
              <a:alpha val="92000"/>
            </a:srgbClr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15636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15636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197864" y="1426464"/>
            <a:ext cx="4724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Membrane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32104" y="2066544"/>
            <a:ext cx="4925416" cy="1769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outer boundary of the cell, made of lipids and proteins. It is selectively permeable, controlling the movement of substances in and out of the cell.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6432" y="1426464"/>
            <a:ext cx="5400904" cy="2391156"/>
          </a:xfrm>
          <a:prstGeom prst="roundRect">
            <a:avLst>
              <a:gd name="adj" fmla="val 3824"/>
            </a:avLst>
          </a:prstGeom>
          <a:solidFill>
            <a:srgbClr val="E5ECF5"/>
          </a:solidFill>
          <a:ln w="11430">
            <a:solidFill>
              <a:srgbClr val="0A4A8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96432" y="1426464"/>
            <a:ext cx="5400904" cy="548640"/>
          </a:xfrm>
          <a:prstGeom prst="roundRect">
            <a:avLst>
              <a:gd name="adj" fmla="val 16667"/>
            </a:avLst>
          </a:prstGeom>
          <a:solidFill>
            <a:srgbClr val="0A4A8F">
              <a:alpha val="92000"/>
            </a:srgbClr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397600" y="15636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97600" y="15636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799936" y="1426464"/>
            <a:ext cx="4724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Cytoplasm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434176" y="2066544"/>
            <a:ext cx="4925416" cy="1769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jelly-like substance filling the cell, between the cell membrane and the nucleus. It contains various organelles and is the site of many metabolic reactions.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4055364"/>
            <a:ext cx="5400904" cy="2391156"/>
          </a:xfrm>
          <a:prstGeom prst="roundRect">
            <a:avLst>
              <a:gd name="adj" fmla="val 3824"/>
            </a:avLst>
          </a:prstGeom>
          <a:solidFill>
            <a:srgbClr val="E5ECF5"/>
          </a:solidFill>
          <a:ln w="11430">
            <a:solidFill>
              <a:srgbClr val="0A4A8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4055364"/>
            <a:ext cx="5400904" cy="548640"/>
          </a:xfrm>
          <a:prstGeom prst="roundRect">
            <a:avLst>
              <a:gd name="adj" fmla="val 16667"/>
            </a:avLst>
          </a:prstGeom>
          <a:solidFill>
            <a:srgbClr val="0A4A8F">
              <a:alpha val="92000"/>
            </a:srgbClr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41925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41925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97864" y="4055364"/>
            <a:ext cx="4724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Nucleus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32104" y="4695444"/>
            <a:ext cx="4925416" cy="1769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control center of the cell, containing the cell's genetic material (DNA). It regulates cell growth, metabolism, and reproduction.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96432" y="4055364"/>
            <a:ext cx="5400904" cy="2391156"/>
          </a:xfrm>
          <a:prstGeom prst="roundRect">
            <a:avLst>
              <a:gd name="adj" fmla="val 3824"/>
            </a:avLst>
          </a:prstGeom>
          <a:solidFill>
            <a:srgbClr val="E5ECF5"/>
          </a:solidFill>
          <a:ln w="11430">
            <a:solidFill>
              <a:srgbClr val="0A4A8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6432" y="4055364"/>
            <a:ext cx="5400904" cy="548640"/>
          </a:xfrm>
          <a:prstGeom prst="roundRect">
            <a:avLst>
              <a:gd name="adj" fmla="val 16667"/>
            </a:avLst>
          </a:prstGeom>
          <a:solidFill>
            <a:srgbClr val="0A4A8F">
              <a:alpha val="92000"/>
            </a:srgbClr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97600" y="4192524"/>
            <a:ext cx="274320" cy="274320"/>
          </a:xfrm>
          <a:prstGeom prst="roundRect">
            <a:avLst>
              <a:gd name="adj" fmla="val 13333"/>
            </a:avLst>
          </a:prstGeom>
          <a:solidFill>
            <a:srgbClr val="FFFFFF">
              <a:alpha val="8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97600" y="4192524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799936" y="4055364"/>
            <a:ext cx="472424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Wall (Plant Cells)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6434176" y="4695444"/>
            <a:ext cx="4925416" cy="17693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rigid outer layer found only in plant cells, fungi, and bacteria. It provides structural support, protection, and prevents excessive water uptake.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85855" y="6464808"/>
            <a:ext cx="411480" cy="246888"/>
          </a:xfrm>
          <a:prstGeom prst="roundRect">
            <a:avLst>
              <a:gd name="adj" fmla="val 37037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1575" y="64739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Savra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384048"/>
            <a:ext cx="11002975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Prokaryotic vs. Eukaryotic Cells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0" y="1252728"/>
            <a:ext cx="12191695" cy="8230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89888"/>
            <a:ext cx="5410048" cy="420624"/>
          </a:xfrm>
          <a:prstGeom prst="roundRect">
            <a:avLst>
              <a:gd name="adj" fmla="val 17391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87288" y="1389888"/>
            <a:ext cx="5410048" cy="420624"/>
          </a:xfrm>
          <a:prstGeom prst="roundRect">
            <a:avLst>
              <a:gd name="adj" fmla="val 17391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389888"/>
            <a:ext cx="515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Prokaryotic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70168" y="1389888"/>
            <a:ext cx="5154016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Eukaryotic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94360" y="1901952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901952"/>
            <a:ext cx="50292" cy="850392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90372" y="2212848"/>
            <a:ext cx="228600" cy="228600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0372" y="22128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946404" y="1965960"/>
            <a:ext cx="497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true nucleus (nucleoid region)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94360" y="2807208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94360" y="2807208"/>
            <a:ext cx="50292" cy="850392"/>
          </a:xfrm>
          <a:prstGeom prst="rect">
            <a:avLst/>
          </a:prstGeom>
          <a:solidFill>
            <a:srgbClr val="0A4A8F">
              <a:alpha val="70000"/>
            </a:srgbClr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90372" y="3118104"/>
            <a:ext cx="228600" cy="228600"/>
          </a:xfrm>
          <a:prstGeom prst="ellipse">
            <a:avLst/>
          </a:prstGeom>
          <a:solidFill>
            <a:srgbClr val="0A4A8F">
              <a:alpha val="80000"/>
            </a:srgbClr>
          </a:solidFill>
          <a:ln w="12700">
            <a:solidFill>
              <a:srgbClr val="0A4A8F">
                <a:alpha val="8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0372" y="311810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46404" y="2871216"/>
            <a:ext cx="497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Membrane-bound organelles absent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94360" y="3712464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" y="3712464"/>
            <a:ext cx="50292" cy="850392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90372" y="4023360"/>
            <a:ext cx="228600" cy="228600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0372" y="40233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946404" y="3776472"/>
            <a:ext cx="497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Smaller in size (1-10 µm)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94360" y="4617720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4617720"/>
            <a:ext cx="50292" cy="850392"/>
          </a:xfrm>
          <a:prstGeom prst="rect">
            <a:avLst/>
          </a:prstGeom>
          <a:solidFill>
            <a:srgbClr val="0A4A8F">
              <a:alpha val="70000"/>
            </a:srgbClr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90372" y="4928616"/>
            <a:ext cx="228600" cy="228600"/>
          </a:xfrm>
          <a:prstGeom prst="ellipse">
            <a:avLst/>
          </a:prstGeom>
          <a:solidFill>
            <a:srgbClr val="0A4A8F">
              <a:alpha val="80000"/>
            </a:srgbClr>
          </a:solidFill>
          <a:ln w="12700">
            <a:solidFill>
              <a:srgbClr val="0A4A8F">
                <a:alpha val="8000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0372" y="492861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46404" y="4681728"/>
            <a:ext cx="497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circular chromosome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94360" y="5522976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94360" y="5522976"/>
            <a:ext cx="50292" cy="850392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0372" y="5833872"/>
            <a:ext cx="228600" cy="228600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" y="58338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946404" y="5586984"/>
            <a:ext cx="497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E.g., Bacteria, Blue-green algae</a:t>
            </a:r>
            <a:endParaRPr lang="en-US" sz="1500" dirty="0"/>
          </a:p>
        </p:txBody>
      </p:sp>
      <p:sp>
        <p:nvSpPr>
          <p:cNvPr id="37" name="Shape 35"/>
          <p:cNvSpPr/>
          <p:nvPr/>
        </p:nvSpPr>
        <p:spPr>
          <a:xfrm>
            <a:off x="6187288" y="1901952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187288" y="1901952"/>
            <a:ext cx="50292" cy="850392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83300" y="2212848"/>
            <a:ext cx="228600" cy="228600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83300" y="2212848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6539332" y="1965960"/>
            <a:ext cx="497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True nucleus with nuclear membrane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6187288" y="2807208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187288" y="2807208"/>
            <a:ext cx="50292" cy="850392"/>
          </a:xfrm>
          <a:prstGeom prst="rect">
            <a:avLst/>
          </a:prstGeom>
          <a:solidFill>
            <a:srgbClr val="0A4A8F">
              <a:alpha val="70000"/>
            </a:srgbClr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283300" y="3118104"/>
            <a:ext cx="228600" cy="228600"/>
          </a:xfrm>
          <a:prstGeom prst="ellipse">
            <a:avLst/>
          </a:prstGeom>
          <a:solidFill>
            <a:srgbClr val="0A4A8F">
              <a:alpha val="80000"/>
            </a:srgbClr>
          </a:solidFill>
          <a:ln w="12700">
            <a:solidFill>
              <a:srgbClr val="0A4A8F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83300" y="3118104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6539332" y="2871216"/>
            <a:ext cx="497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Membrane-bound organelles present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6187288" y="3712464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187288" y="3712464"/>
            <a:ext cx="50292" cy="850392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283300" y="4023360"/>
            <a:ext cx="228600" cy="228600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83300" y="4023360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6539332" y="3776472"/>
            <a:ext cx="497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Larger in size (5-100 µm)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6187288" y="4617720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87288" y="4617720"/>
            <a:ext cx="50292" cy="850392"/>
          </a:xfrm>
          <a:prstGeom prst="rect">
            <a:avLst/>
          </a:prstGeom>
          <a:solidFill>
            <a:srgbClr val="0A4A8F">
              <a:alpha val="70000"/>
            </a:srgbClr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283300" y="4928616"/>
            <a:ext cx="228600" cy="228600"/>
          </a:xfrm>
          <a:prstGeom prst="ellipse">
            <a:avLst/>
          </a:prstGeom>
          <a:solidFill>
            <a:srgbClr val="0A4A8F">
              <a:alpha val="80000"/>
            </a:srgbClr>
          </a:solidFill>
          <a:ln w="12700">
            <a:solidFill>
              <a:srgbClr val="0A4A8F">
                <a:alpha val="8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83300" y="4928616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6539332" y="4681728"/>
            <a:ext cx="497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linear chromosomes</a:t>
            </a:r>
            <a:endParaRPr lang="en-US" sz="1500" dirty="0"/>
          </a:p>
        </p:txBody>
      </p:sp>
      <p:sp>
        <p:nvSpPr>
          <p:cNvPr id="57" name="Shape 55"/>
          <p:cNvSpPr/>
          <p:nvPr/>
        </p:nvSpPr>
        <p:spPr>
          <a:xfrm>
            <a:off x="6187288" y="5522976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187288" y="5522976"/>
            <a:ext cx="50292" cy="850392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283300" y="5833872"/>
            <a:ext cx="228600" cy="228600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283300" y="5833872"/>
            <a:ext cx="228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6539332" y="5586984"/>
            <a:ext cx="4971136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E.g., Plants, Animals, Fungi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85855" y="6464808"/>
            <a:ext cx="411480" cy="246888"/>
          </a:xfrm>
          <a:prstGeom prst="roundRect">
            <a:avLst>
              <a:gd name="adj" fmla="val 37037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1575" y="64739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Savra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384048"/>
            <a:ext cx="11002975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Cell vs. Animal Cell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0" y="1252728"/>
            <a:ext cx="12191695" cy="8230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89888"/>
            <a:ext cx="5410048" cy="420624"/>
          </a:xfrm>
          <a:prstGeom prst="roundRect">
            <a:avLst>
              <a:gd name="adj" fmla="val 17391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187288" y="1389888"/>
            <a:ext cx="5410048" cy="420624"/>
          </a:xfrm>
          <a:prstGeom prst="roundRect">
            <a:avLst>
              <a:gd name="adj" fmla="val 17391"/>
            </a:avLst>
          </a:prstGeom>
          <a:solidFill>
            <a:srgbClr val="0E7040"/>
          </a:solidFill>
          <a:ln w="12700">
            <a:solidFill>
              <a:srgbClr val="0E70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389888"/>
            <a:ext cx="5410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Cell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187288" y="1389888"/>
            <a:ext cx="5410048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Animal Cell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901952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901952"/>
            <a:ext cx="50292" cy="850392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2226564"/>
            <a:ext cx="201168" cy="201168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8972" y="1965960"/>
            <a:ext cx="4989424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wall present (outermost layer)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2807208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94360" y="2807208"/>
            <a:ext cx="50292" cy="850392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85800" y="3131820"/>
            <a:ext cx="201168" cy="201168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8972" y="2871216"/>
            <a:ext cx="4989424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Plastids (e.g., chloroplasts) present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94360" y="3712464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94360" y="3712464"/>
            <a:ext cx="50292" cy="850392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85800" y="4037076"/>
            <a:ext cx="201168" cy="201168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8972" y="3776472"/>
            <a:ext cx="4989424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 central vacuole (90% volume)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594360" y="4617720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4360" y="4617720"/>
            <a:ext cx="50292" cy="850392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942332"/>
            <a:ext cx="201168" cy="201168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72" y="4681728"/>
            <a:ext cx="4989424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Fixed, rectangular shape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594360" y="5522976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" y="5522976"/>
            <a:ext cx="50292" cy="850392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5847588"/>
            <a:ext cx="201168" cy="201168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18972" y="5586984"/>
            <a:ext cx="4989424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Centrosomes usually absent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187288" y="1901952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187288" y="1901952"/>
            <a:ext cx="50292" cy="850392"/>
          </a:xfrm>
          <a:prstGeom prst="rect">
            <a:avLst/>
          </a:prstGeom>
          <a:solidFill>
            <a:srgbClr val="0E7040"/>
          </a:solidFill>
          <a:ln w="12700">
            <a:solidFill>
              <a:srgbClr val="0E704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78728" y="2226564"/>
            <a:ext cx="201168" cy="201168"/>
          </a:xfrm>
          <a:prstGeom prst="ellipse">
            <a:avLst/>
          </a:prstGeom>
          <a:solidFill>
            <a:srgbClr val="0E7040"/>
          </a:solidFill>
          <a:ln w="12700">
            <a:solidFill>
              <a:srgbClr val="0E704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11900" y="1965960"/>
            <a:ext cx="4989424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wall absent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6187288" y="2807208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87288" y="2807208"/>
            <a:ext cx="50292" cy="850392"/>
          </a:xfrm>
          <a:prstGeom prst="rect">
            <a:avLst/>
          </a:prstGeom>
          <a:solidFill>
            <a:srgbClr val="0E7040"/>
          </a:solidFill>
          <a:ln w="12700">
            <a:solidFill>
              <a:srgbClr val="0E704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278728" y="3131820"/>
            <a:ext cx="201168" cy="201168"/>
          </a:xfrm>
          <a:prstGeom prst="ellipse">
            <a:avLst/>
          </a:prstGeom>
          <a:solidFill>
            <a:srgbClr val="0E7040"/>
          </a:solidFill>
          <a:ln w="12700">
            <a:solidFill>
              <a:srgbClr val="0E704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11900" y="2871216"/>
            <a:ext cx="4989424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Plastids absent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6187288" y="3712464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87288" y="3712464"/>
            <a:ext cx="50292" cy="850392"/>
          </a:xfrm>
          <a:prstGeom prst="rect">
            <a:avLst/>
          </a:prstGeom>
          <a:solidFill>
            <a:srgbClr val="0E7040"/>
          </a:solidFill>
          <a:ln w="12700">
            <a:solidFill>
              <a:srgbClr val="0E704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278728" y="4037076"/>
            <a:ext cx="201168" cy="201168"/>
          </a:xfrm>
          <a:prstGeom prst="ellipse">
            <a:avLst/>
          </a:prstGeom>
          <a:solidFill>
            <a:srgbClr val="0E7040"/>
          </a:solidFill>
          <a:ln w="12700">
            <a:solidFill>
              <a:srgbClr val="0E704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511900" y="3776472"/>
            <a:ext cx="4989424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Small, temporary vacuoles (if any)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6187288" y="4617720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187288" y="4617720"/>
            <a:ext cx="50292" cy="850392"/>
          </a:xfrm>
          <a:prstGeom prst="rect">
            <a:avLst/>
          </a:prstGeom>
          <a:solidFill>
            <a:srgbClr val="0E7040"/>
          </a:solidFill>
          <a:ln w="12700">
            <a:solidFill>
              <a:srgbClr val="0E70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278728" y="4942332"/>
            <a:ext cx="201168" cy="201168"/>
          </a:xfrm>
          <a:prstGeom prst="ellipse">
            <a:avLst/>
          </a:prstGeom>
          <a:solidFill>
            <a:srgbClr val="0E7040"/>
          </a:solidFill>
          <a:ln w="12700">
            <a:solidFill>
              <a:srgbClr val="0E70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511900" y="4681728"/>
            <a:ext cx="4989424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Irregular, roundish shape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6187288" y="5522976"/>
            <a:ext cx="5410048" cy="850392"/>
          </a:xfrm>
          <a:prstGeom prst="roundRect">
            <a:avLst>
              <a:gd name="adj" fmla="val 7527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187288" y="5522976"/>
            <a:ext cx="50292" cy="850392"/>
          </a:xfrm>
          <a:prstGeom prst="rect">
            <a:avLst/>
          </a:prstGeom>
          <a:solidFill>
            <a:srgbClr val="0E7040"/>
          </a:solidFill>
          <a:ln w="12700">
            <a:solidFill>
              <a:srgbClr val="0E704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78728" y="5847588"/>
            <a:ext cx="201168" cy="201168"/>
          </a:xfrm>
          <a:prstGeom prst="ellipse">
            <a:avLst/>
          </a:prstGeom>
          <a:solidFill>
            <a:srgbClr val="0E7040"/>
          </a:solidFill>
          <a:ln w="12700">
            <a:solidFill>
              <a:srgbClr val="0E704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511900" y="5586984"/>
            <a:ext cx="4989424" cy="7406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Centrosomes present for cell division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85855" y="6464808"/>
            <a:ext cx="411480" cy="246888"/>
          </a:xfrm>
          <a:prstGeom prst="roundRect">
            <a:avLst>
              <a:gd name="adj" fmla="val 37037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1575" y="64739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Savra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384048"/>
            <a:ext cx="11002975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Important Cell Organelles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0" y="1252728"/>
            <a:ext cx="12191695" cy="8230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89888"/>
            <a:ext cx="3533546" cy="5056632"/>
          </a:xfrm>
          <a:prstGeom prst="roundRect">
            <a:avLst>
              <a:gd name="adj" fmla="val 2588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389888"/>
            <a:ext cx="73152" cy="5056632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13816" y="1389888"/>
            <a:ext cx="324093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Mitochondria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813816" y="2048256"/>
            <a:ext cx="3204362" cy="14630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3816" y="2121408"/>
            <a:ext cx="3186074" cy="3633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Known as the 'powerhouse of the cell', responsible for cellular respiration and producing ATP (energy currency).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740664" y="5824728"/>
            <a:ext cx="3332378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50392" y="58978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240280" y="5879592"/>
            <a:ext cx="172303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 cells of a cricketer playing in Mumbai have thousands of mitochondria to generate the energy needed for intense activity.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29074" y="1389888"/>
            <a:ext cx="3533546" cy="5056632"/>
          </a:xfrm>
          <a:prstGeom prst="roundRect">
            <a:avLst>
              <a:gd name="adj" fmla="val 2588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29074" y="1389888"/>
            <a:ext cx="73152" cy="5056632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48530" y="1389888"/>
            <a:ext cx="324093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Plastids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4548530" y="2048256"/>
            <a:ext cx="3204362" cy="14630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48530" y="2121408"/>
            <a:ext cx="3186074" cy="3633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Double-membraned organelles found in plant cells. Chloroplasts, a type of plastid, perform photosynthesis.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4475378" y="5824728"/>
            <a:ext cx="3332378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85106" y="58978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974994" y="5879592"/>
            <a:ext cx="172303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Chloroplasts in the leaves of a Banyan tree convert sunlight into glucose, providing food for the plant.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063789" y="1389888"/>
            <a:ext cx="3533546" cy="5056632"/>
          </a:xfrm>
          <a:prstGeom prst="roundRect">
            <a:avLst>
              <a:gd name="adj" fmla="val 2588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063789" y="1389888"/>
            <a:ext cx="73152" cy="5056632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83245" y="1389888"/>
            <a:ext cx="3240938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Vacuoles</a:t>
            </a:r>
            <a:endParaRPr lang="en-US" sz="2200" dirty="0"/>
          </a:p>
        </p:txBody>
      </p:sp>
      <p:sp>
        <p:nvSpPr>
          <p:cNvPr id="27" name="Shape 25"/>
          <p:cNvSpPr/>
          <p:nvPr/>
        </p:nvSpPr>
        <p:spPr>
          <a:xfrm>
            <a:off x="8283245" y="2048256"/>
            <a:ext cx="3204362" cy="14630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83245" y="2121408"/>
            <a:ext cx="3186074" cy="363382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Membrane-bound sacs primarily for storage of water, nutrients, and waste products. Large and central in plant cells, small in animal cells.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210093" y="5824728"/>
            <a:ext cx="3332378" cy="621792"/>
          </a:xfrm>
          <a:prstGeom prst="roundRect">
            <a:avLst>
              <a:gd name="adj" fmla="val 8824"/>
            </a:avLst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319821" y="5897880"/>
            <a:ext cx="14630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e.g.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709709" y="5879592"/>
            <a:ext cx="1723034" cy="493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10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large central vacuole in a plant cell helps maintain turgor pressure, preventing the plant from wilting during a dry Indian summer.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85855" y="6464808"/>
            <a:ext cx="411480" cy="246888"/>
          </a:xfrm>
          <a:prstGeom prst="roundRect">
            <a:avLst>
              <a:gd name="adj" fmla="val 37037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1575" y="64739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Savra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384048"/>
            <a:ext cx="11002975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Endoplasmic Reticulum: Key Roles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0" y="1252728"/>
            <a:ext cx="12191695" cy="8230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237970" y="1603126"/>
            <a:ext cx="3715756" cy="3715756"/>
          </a:xfrm>
          <a:prstGeom prst="ellipse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274546" y="1639702"/>
            <a:ext cx="3642604" cy="3642604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94475" y="2659631"/>
            <a:ext cx="1602746" cy="1602746"/>
          </a:xfrm>
          <a:prstGeom prst="ellipse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55436" y="3220592"/>
            <a:ext cx="480824" cy="480824"/>
          </a:xfrm>
          <a:prstGeom prst="ellipse">
            <a:avLst/>
          </a:prstGeom>
          <a:solidFill>
            <a:srgbClr val="0A4A8F">
              <a:alpha val="50000"/>
            </a:srgbClr>
          </a:solidFill>
          <a:ln w="12700">
            <a:solidFill>
              <a:srgbClr val="0A4A8F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95848" y="3461004"/>
            <a:ext cx="0" cy="-1821302"/>
          </a:xfrm>
          <a:prstGeom prst="line">
            <a:avLst/>
          </a:prstGeom>
          <a:noFill/>
          <a:ln w="31750">
            <a:solidFill>
              <a:srgbClr val="F4F7F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95848" y="3461004"/>
            <a:ext cx="1732161" cy="-562813"/>
          </a:xfrm>
          <a:prstGeom prst="line">
            <a:avLst/>
          </a:prstGeom>
          <a:noFill/>
          <a:ln w="31750">
            <a:solidFill>
              <a:srgbClr val="F4F7F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95848" y="3461004"/>
            <a:ext cx="1070534" cy="1473464"/>
          </a:xfrm>
          <a:prstGeom prst="line">
            <a:avLst/>
          </a:prstGeom>
          <a:noFill/>
          <a:ln w="31750">
            <a:solidFill>
              <a:srgbClr val="F4F7F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95848" y="3461004"/>
            <a:ext cx="-1070534" cy="1473464"/>
          </a:xfrm>
          <a:prstGeom prst="line">
            <a:avLst/>
          </a:prstGeom>
          <a:noFill/>
          <a:ln w="31750">
            <a:solidFill>
              <a:srgbClr val="F4F7F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95848" y="3461004"/>
            <a:ext cx="-1732161" cy="-562813"/>
          </a:xfrm>
          <a:prstGeom prst="line">
            <a:avLst/>
          </a:prstGeom>
          <a:noFill/>
          <a:ln w="31750">
            <a:solidFill>
              <a:srgbClr val="F4F7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9472" y="226295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05844" y="372907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958688" y="4635181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711532" y="372907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5187903" y="226295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328630" y="1527048"/>
            <a:ext cx="313154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Protein Synthesis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28630" y="1929384"/>
            <a:ext cx="313154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Rough ER (RER) with ribosomes synthesizes proteins destined for secretion or insertion into membranes.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328630" y="3594874"/>
            <a:ext cx="313154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Lipid Synthesis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328630" y="3997210"/>
            <a:ext cx="313154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ER (SER) synthesizes lipids, steroids, and phospholipids for cell membranes.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28630" y="4434840"/>
            <a:ext cx="313154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Detoxification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28630" y="4837176"/>
            <a:ext cx="313154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 detoxifies drugs and poisons, especially abundant in liver cells, like those protecting from toxins in polluted environments.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85800" y="3594874"/>
            <a:ext cx="313154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Transport Network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85800" y="3997210"/>
            <a:ext cx="313154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Forms an intracellular transport system, moving materials within the cytoplasm and to other organelles.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85800" y="1527048"/>
            <a:ext cx="3131546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Membrane Biogenesis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85800" y="1929384"/>
            <a:ext cx="3131546" cy="7498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Both RER and SER contribute to the formation of new cell membranes and other organelles.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94360" y="5532120"/>
            <a:ext cx="11002975" cy="804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Endoplasmic Reticulum acts as a dynamic network for synthesis, transport, and detoxification, vital for overall cell function and maintenance.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85855" y="6464808"/>
            <a:ext cx="411480" cy="246888"/>
          </a:xfrm>
          <a:prstGeom prst="roundRect">
            <a:avLst>
              <a:gd name="adj" fmla="val 37037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1575" y="64739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Savra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384048"/>
            <a:ext cx="11002975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Generalized Animal Cell Structure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0" y="1252728"/>
            <a:ext cx="12191695" cy="8230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5577840"/>
            <a:ext cx="11002975" cy="868680"/>
          </a:xfrm>
          <a:prstGeom prst="roundRect">
            <a:avLst>
              <a:gd name="adj" fmla="val 10526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5742432"/>
            <a:ext cx="10454335" cy="6309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simplified diagram showing the major components of a typical animal cell.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67512" y="2416302"/>
            <a:ext cx="10856671" cy="18288"/>
          </a:xfrm>
          <a:prstGeom prst="rect">
            <a:avLst/>
          </a:prstGeom>
          <a:solidFill>
            <a:srgbClr val="5A7899">
              <a:alpha val="22000"/>
            </a:srgbClr>
          </a:solidFill>
          <a:ln w="12700">
            <a:solidFill>
              <a:srgbClr val="5A78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67512" y="4588002"/>
            <a:ext cx="10856671" cy="18288"/>
          </a:xfrm>
          <a:prstGeom prst="rect">
            <a:avLst/>
          </a:prstGeom>
          <a:solidFill>
            <a:srgbClr val="5A7899">
              <a:alpha val="22000"/>
            </a:srgbClr>
          </a:solidFill>
          <a:ln w="12700">
            <a:solidFill>
              <a:srgbClr val="5A78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12365" y="2425446"/>
            <a:ext cx="18288" cy="2171700"/>
          </a:xfrm>
          <a:prstGeom prst="rect">
            <a:avLst/>
          </a:prstGeom>
          <a:solidFill>
            <a:srgbClr val="5A7899">
              <a:alpha val="22000"/>
            </a:srgbClr>
          </a:solidFill>
          <a:ln w="12700">
            <a:solidFill>
              <a:srgbClr val="5A789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86704" y="2425446"/>
            <a:ext cx="18288" cy="2171700"/>
          </a:xfrm>
          <a:prstGeom prst="rect">
            <a:avLst/>
          </a:prstGeom>
          <a:solidFill>
            <a:srgbClr val="5A7899">
              <a:alpha val="22000"/>
            </a:srgbClr>
          </a:solidFill>
          <a:ln w="12700">
            <a:solidFill>
              <a:srgbClr val="5A78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861042" y="2425446"/>
            <a:ext cx="18288" cy="2171700"/>
          </a:xfrm>
          <a:prstGeom prst="rect">
            <a:avLst/>
          </a:prstGeom>
          <a:solidFill>
            <a:srgbClr val="5A7899">
              <a:alpha val="22000"/>
            </a:srgbClr>
          </a:solidFill>
          <a:ln w="12700">
            <a:solidFill>
              <a:srgbClr val="5A78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94360" y="1499616"/>
            <a:ext cx="3454298" cy="1851660"/>
          </a:xfrm>
          <a:prstGeom prst="roundRect">
            <a:avLst>
              <a:gd name="adj" fmla="val 5926"/>
            </a:avLst>
          </a:prstGeom>
          <a:solidFill>
            <a:srgbClr val="E5ECF5"/>
          </a:solidFill>
          <a:ln w="11430">
            <a:solidFill>
              <a:srgbClr val="0A4A8F">
                <a:alpha val="3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04088" y="1609344"/>
            <a:ext cx="256032" cy="256032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22376" y="160934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78408" y="1664208"/>
            <a:ext cx="2923946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 Membrane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368698" y="1499616"/>
            <a:ext cx="3454298" cy="1851660"/>
          </a:xfrm>
          <a:prstGeom prst="roundRect">
            <a:avLst>
              <a:gd name="adj" fmla="val 5926"/>
            </a:avLst>
          </a:prstGeom>
          <a:solidFill>
            <a:srgbClr val="E5ECF5"/>
          </a:solidFill>
          <a:ln w="11430">
            <a:solidFill>
              <a:srgbClr val="0A4A8F">
                <a:alpha val="3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478426" y="1609344"/>
            <a:ext cx="256032" cy="256032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496714" y="160934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52746" y="1664208"/>
            <a:ext cx="2923946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Cytoplasm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143037" y="1499616"/>
            <a:ext cx="3454298" cy="1851660"/>
          </a:xfrm>
          <a:prstGeom prst="roundRect">
            <a:avLst>
              <a:gd name="adj" fmla="val 5926"/>
            </a:avLst>
          </a:prstGeom>
          <a:solidFill>
            <a:srgbClr val="E5ECF5"/>
          </a:solidFill>
          <a:ln w="11430">
            <a:solidFill>
              <a:srgbClr val="0A4A8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52765" y="1609344"/>
            <a:ext cx="256032" cy="256032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71053" y="160934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527085" y="1664208"/>
            <a:ext cx="2923946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Nucleus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594360" y="3671316"/>
            <a:ext cx="3454298" cy="1851660"/>
          </a:xfrm>
          <a:prstGeom prst="roundRect">
            <a:avLst>
              <a:gd name="adj" fmla="val 5926"/>
            </a:avLst>
          </a:prstGeom>
          <a:solidFill>
            <a:srgbClr val="E5ECF5"/>
          </a:solidFill>
          <a:ln w="11430">
            <a:solidFill>
              <a:srgbClr val="0A4A8F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04088" y="3781044"/>
            <a:ext cx="256032" cy="256032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2376" y="378104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78408" y="3835908"/>
            <a:ext cx="2923946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Mitochondria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4368698" y="3671316"/>
            <a:ext cx="3454298" cy="1851660"/>
          </a:xfrm>
          <a:prstGeom prst="roundRect">
            <a:avLst>
              <a:gd name="adj" fmla="val 5926"/>
            </a:avLst>
          </a:prstGeom>
          <a:solidFill>
            <a:srgbClr val="E5ECF5"/>
          </a:solidFill>
          <a:ln w="11430">
            <a:solidFill>
              <a:srgbClr val="0A4A8F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478426" y="3781044"/>
            <a:ext cx="256032" cy="256032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96714" y="378104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52746" y="3835908"/>
            <a:ext cx="2923946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Endoplasmic Reticulum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143037" y="3671316"/>
            <a:ext cx="3454298" cy="1851660"/>
          </a:xfrm>
          <a:prstGeom prst="roundRect">
            <a:avLst>
              <a:gd name="adj" fmla="val 5926"/>
            </a:avLst>
          </a:prstGeom>
          <a:solidFill>
            <a:srgbClr val="E5ECF5"/>
          </a:solidFill>
          <a:ln w="11430">
            <a:solidFill>
              <a:srgbClr val="0A4A8F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252765" y="3781044"/>
            <a:ext cx="256032" cy="256032"/>
          </a:xfrm>
          <a:prstGeom prst="ellipse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271053" y="3781044"/>
            <a:ext cx="21945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527085" y="3835908"/>
            <a:ext cx="2923946" cy="1577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Golgi Apparatus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85855" y="6464808"/>
            <a:ext cx="411480" cy="246888"/>
          </a:xfrm>
          <a:prstGeom prst="roundRect">
            <a:avLst>
              <a:gd name="adj" fmla="val 37037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1575" y="64739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Savra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"/>
            <a:ext cx="91440" cy="91440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73152"/>
            <a:ext cx="108383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80" kern="0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HOTS  ·  ANALYSE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11002975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Cell: Structural &amp; Functional Unit?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0" y="1252728"/>
            <a:ext cx="12191695" cy="8230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481328"/>
            <a:ext cx="11002975" cy="3337560"/>
          </a:xfrm>
          <a:prstGeom prst="roundRect">
            <a:avLst>
              <a:gd name="adj" fmla="val 3288"/>
            </a:avLst>
          </a:prstGeom>
          <a:solidFill>
            <a:srgbClr val="E5ECF5"/>
          </a:solidFill>
          <a:ln w="11430">
            <a:solidFill>
              <a:srgbClr val="0A4A8F">
                <a:alpha val="3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1481328"/>
            <a:ext cx="91440" cy="3337560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64647" y="1627632"/>
            <a:ext cx="896112" cy="329184"/>
          </a:xfrm>
          <a:prstGeom prst="roundRect">
            <a:avLst>
              <a:gd name="adj" fmla="val 16667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664647" y="1627632"/>
            <a:ext cx="8961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Marks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923544" y="1664208"/>
            <a:ext cx="9466783" cy="3008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Justify why the cell is universally regarded as the 'structural and functional unit of life' for all organisms, providing two distinct reasons with examples.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94360" y="5001768"/>
            <a:ext cx="3557930" cy="1389888"/>
          </a:xfrm>
          <a:prstGeom prst="roundRect">
            <a:avLst>
              <a:gd name="adj" fmla="val 6579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8952" y="5111496"/>
            <a:ext cx="335676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58952" y="5349240"/>
            <a:ext cx="3228746" cy="20117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58952" y="5404104"/>
            <a:ext cx="322874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Consider the smallest independent unit capable of life.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16882" y="5001768"/>
            <a:ext cx="3557930" cy="1389888"/>
          </a:xfrm>
          <a:prstGeom prst="roundRect">
            <a:avLst>
              <a:gd name="adj" fmla="val 6579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481474" y="5111496"/>
            <a:ext cx="335676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481474" y="5349240"/>
            <a:ext cx="3228746" cy="20117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81474" y="5404104"/>
            <a:ext cx="322874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 how complex organisms are organized from this basic unit.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8039405" y="5001768"/>
            <a:ext cx="3557930" cy="1389888"/>
          </a:xfrm>
          <a:prstGeom prst="roundRect">
            <a:avLst>
              <a:gd name="adj" fmla="val 6579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03997" y="5111496"/>
            <a:ext cx="335676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THINK ABOUT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8203997" y="5349240"/>
            <a:ext cx="3228746" cy="20117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03997" y="5404104"/>
            <a:ext cx="3228746" cy="877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3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Relate functions of individual cells to the organism's overall life processes.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85855" y="6464808"/>
            <a:ext cx="411480" cy="246888"/>
          </a:xfrm>
          <a:prstGeom prst="roundRect">
            <a:avLst>
              <a:gd name="adj" fmla="val 37037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1575" y="64739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Savra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82296"/>
            <a:ext cx="8442655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</a:t>
            </a:r>
            <a:endParaRPr lang="en-US" sz="2800" dirty="0"/>
          </a:p>
        </p:txBody>
      </p:sp>
      <p:sp>
        <p:nvSpPr>
          <p:cNvPr id="9" name="Shape 7"/>
          <p:cNvSpPr/>
          <p:nvPr/>
        </p:nvSpPr>
        <p:spPr>
          <a:xfrm>
            <a:off x="9402775" y="310896"/>
            <a:ext cx="2194560" cy="292608"/>
          </a:xfrm>
          <a:prstGeom prst="roundRect">
            <a:avLst>
              <a:gd name="adj" fmla="val 2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402775" y="310896"/>
            <a:ext cx="21945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Marks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9631375" y="1280160"/>
            <a:ext cx="23774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22000" b="1" dirty="0">
                <a:solidFill>
                  <a:srgbClr val="E5EC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?</a:t>
            </a:r>
            <a:endParaRPr lang="en-US" sz="22000" dirty="0"/>
          </a:p>
        </p:txBody>
      </p:sp>
      <p:sp>
        <p:nvSpPr>
          <p:cNvPr id="12" name="Shape 10"/>
          <p:cNvSpPr/>
          <p:nvPr/>
        </p:nvSpPr>
        <p:spPr>
          <a:xfrm>
            <a:off x="594360" y="1042416"/>
            <a:ext cx="11002975" cy="4361688"/>
          </a:xfrm>
          <a:prstGeom prst="roundRect">
            <a:avLst>
              <a:gd name="adj" fmla="val 2935"/>
            </a:avLst>
          </a:prstGeom>
          <a:solidFill>
            <a:srgbClr val="E5ECF5"/>
          </a:solidFill>
          <a:ln w="11430">
            <a:solidFill>
              <a:srgbClr val="0A4A8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4360" y="1042416"/>
            <a:ext cx="91440" cy="4361688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1832" y="1225296"/>
            <a:ext cx="10490911" cy="4032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28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student places a peeled potato half into a concentrated salt solution. After 30 minutes, what change would be observed in the potato, and why? Explain the underlying biological process.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594360" y="5550408"/>
            <a:ext cx="11002975" cy="822960"/>
          </a:xfrm>
          <a:prstGeom prst="roundRect">
            <a:avLst>
              <a:gd name="adj" fmla="val 8889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" y="5678424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HINT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2020824" y="5660136"/>
            <a:ext cx="9411919" cy="60350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the movement of water molecules across a semi-permeable membrane and its direction in different solutions.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85855" y="6464808"/>
            <a:ext cx="411480" cy="246888"/>
          </a:xfrm>
          <a:prstGeom prst="roundRect">
            <a:avLst>
              <a:gd name="adj" fmla="val 37037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1575" y="64739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Savra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6304"/>
            <a:ext cx="91440" cy="91440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8952" y="73152"/>
            <a:ext cx="10838383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50" b="1" spc="280" kern="0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94360" y="384048"/>
            <a:ext cx="11002975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Understanding Osmosis in Cells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0" y="1252728"/>
            <a:ext cx="12191695" cy="8230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4360" y="1463040"/>
            <a:ext cx="11002975" cy="1463040"/>
          </a:xfrm>
          <a:prstGeom prst="roundRect">
            <a:avLst>
              <a:gd name="adj" fmla="val 6250"/>
            </a:avLst>
          </a:prstGeom>
          <a:solidFill>
            <a:srgbClr val="E2F2E9"/>
          </a:solidFill>
          <a:ln w="11430">
            <a:solidFill>
              <a:srgbClr val="0E704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1591056"/>
            <a:ext cx="1463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0E7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868680" y="1883664"/>
            <a:ext cx="10545775" cy="9326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000" b="1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potato half would shrink and become soft.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94360" y="3090672"/>
            <a:ext cx="11002975" cy="3355848"/>
          </a:xfrm>
          <a:prstGeom prst="roundRect">
            <a:avLst>
              <a:gd name="adj" fmla="val 2725"/>
            </a:avLst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218688"/>
            <a:ext cx="20116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spc="180" kern="0" dirty="0">
                <a:solidFill>
                  <a:srgbClr val="0A4A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EXPLANATION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68680" y="3511296"/>
            <a:ext cx="10545775" cy="20117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547872"/>
            <a:ext cx="10545775" cy="2788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8000"/>
              </a:lnSpc>
              <a:buNone/>
            </a:pPr>
            <a:r>
              <a:rPr lang="en-US" sz="18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change occurs due to osmosis. The concentrated salt solution is hypertonic, meaning it has a lower water concentration than the potato cells. Water molecules from the potato cells move out into the surrounding salt solution across the semi-permeable cell membrane (from higher to lower water concentration), causing the potato to lose water, become flaccid, and shrink.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1185855" y="6464808"/>
            <a:ext cx="411480" cy="246888"/>
          </a:xfrm>
          <a:prstGeom prst="roundRect">
            <a:avLst>
              <a:gd name="adj" fmla="val 37037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1231575" y="64739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94360" y="6455664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Savra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94360" y="384048"/>
            <a:ext cx="11002975" cy="8412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Cell: Key Points Revisited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0" y="1252728"/>
            <a:ext cx="12191695" cy="8230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730959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1389888"/>
            <a:ext cx="329184" cy="1011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06424" y="1481328"/>
            <a:ext cx="10454335" cy="828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Cells are the fundamental building blocks of all living organisms.</a:t>
            </a:r>
            <a:endParaRPr lang="en-US" sz="1900" dirty="0"/>
          </a:p>
        </p:txBody>
      </p:sp>
      <p:sp>
        <p:nvSpPr>
          <p:cNvPr id="11" name="Shape 9"/>
          <p:cNvSpPr/>
          <p:nvPr/>
        </p:nvSpPr>
        <p:spPr>
          <a:xfrm>
            <a:off x="594360" y="2390242"/>
            <a:ext cx="11002975" cy="10973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2742286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2401214"/>
            <a:ext cx="329184" cy="1011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06424" y="2492654"/>
            <a:ext cx="10454335" cy="828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Prokaryotic cells lack a true nucleus, while eukaryotic cells possess one.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94360" y="3401568"/>
            <a:ext cx="11002975" cy="10973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3753612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3412541"/>
            <a:ext cx="329184" cy="1011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06424" y="3503981"/>
            <a:ext cx="10454335" cy="828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Plant cells are distinct from animal cells due to cell walls, plastids, and large vacuoles.</a:t>
            </a:r>
            <a:endParaRPr lang="en-US" sz="1900" dirty="0"/>
          </a:p>
        </p:txBody>
      </p:sp>
      <p:sp>
        <p:nvSpPr>
          <p:cNvPr id="19" name="Shape 17"/>
          <p:cNvSpPr/>
          <p:nvPr/>
        </p:nvSpPr>
        <p:spPr>
          <a:xfrm>
            <a:off x="594360" y="4412894"/>
            <a:ext cx="11002975" cy="10973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4764938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4423867"/>
            <a:ext cx="329184" cy="1011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06424" y="4515307"/>
            <a:ext cx="10454335" cy="828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Various organelles within a cell perform specific, vital functions.</a:t>
            </a:r>
            <a:endParaRPr lang="en-US" sz="1900" dirty="0"/>
          </a:p>
        </p:txBody>
      </p:sp>
      <p:sp>
        <p:nvSpPr>
          <p:cNvPr id="23" name="Shape 21"/>
          <p:cNvSpPr/>
          <p:nvPr/>
        </p:nvSpPr>
        <p:spPr>
          <a:xfrm>
            <a:off x="594360" y="5424221"/>
            <a:ext cx="11002975" cy="10973"/>
          </a:xfrm>
          <a:prstGeom prst="rect">
            <a:avLst/>
          </a:prstGeom>
          <a:solidFill>
            <a:srgbClr val="E5ECF5"/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5776265"/>
            <a:ext cx="329184" cy="329184"/>
          </a:xfrm>
          <a:prstGeom prst="roundRect">
            <a:avLst>
              <a:gd name="adj" fmla="val 16667"/>
            </a:avLst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5435194"/>
            <a:ext cx="329184" cy="10113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106424" y="5526634"/>
            <a:ext cx="10454335" cy="82844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900" dirty="0">
                <a:solidFill>
                  <a:srgbClr val="1A33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Cell Theory explains the universal presence and origin of cells.</a:t>
            </a:r>
            <a:endParaRPr lang="en-US" sz="1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 w="12700">
            <a:solidFill>
              <a:srgbClr val="F4F7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331720"/>
            <a:ext cx="1100297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4600" b="1" dirty="0">
                <a:solidFill>
                  <a:srgbClr val="0C23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Happy learning!</a:t>
            </a:r>
            <a:endParaRPr lang="en-US" sz="4600" dirty="0"/>
          </a:p>
        </p:txBody>
      </p:sp>
      <p:sp>
        <p:nvSpPr>
          <p:cNvPr id="4" name="Shape 2"/>
          <p:cNvSpPr/>
          <p:nvPr/>
        </p:nvSpPr>
        <p:spPr>
          <a:xfrm>
            <a:off x="4998568" y="3703320"/>
            <a:ext cx="2194560" cy="73152"/>
          </a:xfrm>
          <a:prstGeom prst="rect">
            <a:avLst/>
          </a:prstGeom>
          <a:solidFill>
            <a:srgbClr val="0A4A8F"/>
          </a:solidFill>
          <a:ln w="12700">
            <a:solidFill>
              <a:srgbClr val="0A4A8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3858768"/>
            <a:ext cx="1100297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0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the microscopic world around you.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1185855" y="6464808"/>
            <a:ext cx="411480" cy="246888"/>
          </a:xfrm>
          <a:prstGeom prst="roundRect">
            <a:avLst>
              <a:gd name="adj" fmla="val 37037"/>
            </a:avLst>
          </a:prstGeom>
          <a:solidFill>
            <a:srgbClr val="E5ECF5">
              <a:alpha val="70000"/>
            </a:srgbClr>
          </a:solidFill>
          <a:ln w="12700">
            <a:solidFill>
              <a:srgbClr val="E5EC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231575" y="6473952"/>
            <a:ext cx="365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94360" y="6455664"/>
            <a:ext cx="11002975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78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Powered by Savra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Cell</dc:title>
  <dc:subject>PptxGenJS Presentation</dc:subject>
  <dc:creator>Savra AI</dc:creator>
  <cp:lastModifiedBy>Savra AI</cp:lastModifiedBy>
  <cp:revision>1</cp:revision>
  <dcterms:created xsi:type="dcterms:W3CDTF">2026-06-27T06:02:46Z</dcterms:created>
  <dcterms:modified xsi:type="dcterms:W3CDTF">2026-06-27T06:02:46Z</dcterms:modified>
</cp:coreProperties>
</file>